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993b802ca54ee1" /><Relationship Type="http://schemas.openxmlformats.org/officeDocument/2006/relationships/extended-properties" Target="/docProps/app.xml" Id="Rde9b69b95af2466a" /><Relationship Type="http://schemas.openxmlformats.org/officeDocument/2006/relationships/officeDocument" Target="/ppt/presentation.xml" Id="Rca930c38a35c41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784ae4a804b60"/>
  </p:sldMasterIdLst>
  <p:notesMasterIdLst>
    <p:notesMasterId xmlns:r="http://schemas.openxmlformats.org/officeDocument/2006/relationships" r:id="Raf0d409ec73646f6"/>
  </p:notesMasterIdLst>
  <p:sldIdLst>
    <p:sldId xmlns:r="http://schemas.openxmlformats.org/officeDocument/2006/relationships" id="256" r:id="R208d370775ab484a"/>
    <p:sldId xmlns:r="http://schemas.openxmlformats.org/officeDocument/2006/relationships" id="257" r:id="R33d1367ecc624e49"/>
    <p:sldId xmlns:r="http://schemas.openxmlformats.org/officeDocument/2006/relationships" id="258" r:id="R41d3ddd2a23446c2"/>
    <p:sldId xmlns:r="http://schemas.openxmlformats.org/officeDocument/2006/relationships" id="259" r:id="Read6fb82ac8840ec"/>
    <p:sldId xmlns:r="http://schemas.openxmlformats.org/officeDocument/2006/relationships" id="260" r:id="Rd5647f20721e4790"/>
    <p:sldId xmlns:r="http://schemas.openxmlformats.org/officeDocument/2006/relationships" id="261" r:id="Re4171aefa5f84235"/>
    <p:sldId xmlns:r="http://schemas.openxmlformats.org/officeDocument/2006/relationships" id="262" r:id="R0ee1d94547a84b0a"/>
    <p:sldId xmlns:r="http://schemas.openxmlformats.org/officeDocument/2006/relationships" id="263" r:id="Rec75e575ba62460d"/>
    <p:sldId xmlns:r="http://schemas.openxmlformats.org/officeDocument/2006/relationships" id="264" r:id="Ra37cd92ca48b4737"/>
    <p:sldId xmlns:r="http://schemas.openxmlformats.org/officeDocument/2006/relationships" id="265" r:id="Re82d49fc236e46d4"/>
    <p:sldId xmlns:r="http://schemas.openxmlformats.org/officeDocument/2006/relationships" id="266" r:id="R87de5491ba564cc9"/>
    <p:sldId xmlns:r="http://schemas.openxmlformats.org/officeDocument/2006/relationships" id="267" r:id="Redcb94064ea946c6"/>
    <p:sldId xmlns:r="http://schemas.openxmlformats.org/officeDocument/2006/relationships" id="268" r:id="Rc334af5f8d8b4908"/>
    <p:sldId xmlns:r="http://schemas.openxmlformats.org/officeDocument/2006/relationships" id="269" r:id="Rbd5125e3896c4a32"/>
    <p:sldId xmlns:r="http://schemas.openxmlformats.org/officeDocument/2006/relationships" id="270" r:id="R34a2b6fac59a4e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5ffb39f5e4e65" /><Relationship Type="http://schemas.openxmlformats.org/officeDocument/2006/relationships/slideMaster" Target="/ppt/slideMasters/slideMaster1.xml" Id="R511784ae4a804b60" /><Relationship Type="http://schemas.openxmlformats.org/officeDocument/2006/relationships/notesMaster" Target="/ppt/notesMasters/notesMaster1.xml" Id="Raf0d409ec73646f6" /><Relationship Type="http://schemas.openxmlformats.org/officeDocument/2006/relationships/presProps" Target="/ppt/presProps.xml" Id="R46dcb1cb6bad4bec" /><Relationship Type="http://schemas.openxmlformats.org/officeDocument/2006/relationships/tableStyles" Target="/ppt/tableStyles.xml" Id="Refd7079d2e7e4e40" /><Relationship Type="http://schemas.openxmlformats.org/officeDocument/2006/relationships/slide" Target="/ppt/slides/slide1.xml" Id="R208d370775ab484a" /><Relationship Type="http://schemas.openxmlformats.org/officeDocument/2006/relationships/slide" Target="/ppt/slides/slide2.xml" Id="R33d1367ecc624e49" /><Relationship Type="http://schemas.openxmlformats.org/officeDocument/2006/relationships/slide" Target="/ppt/slides/slide3.xml" Id="R41d3ddd2a23446c2" /><Relationship Type="http://schemas.openxmlformats.org/officeDocument/2006/relationships/slide" Target="/ppt/slides/slide4.xml" Id="Read6fb82ac8840ec" /><Relationship Type="http://schemas.openxmlformats.org/officeDocument/2006/relationships/slide" Target="/ppt/slides/slide5.xml" Id="Rd5647f20721e4790" /><Relationship Type="http://schemas.openxmlformats.org/officeDocument/2006/relationships/slide" Target="/ppt/slides/slide6.xml" Id="Re4171aefa5f84235" /><Relationship Type="http://schemas.openxmlformats.org/officeDocument/2006/relationships/slide" Target="/ppt/slides/slide7.xml" Id="R0ee1d94547a84b0a" /><Relationship Type="http://schemas.openxmlformats.org/officeDocument/2006/relationships/slide" Target="/ppt/slides/slide8.xml" Id="Rec75e575ba62460d" /><Relationship Type="http://schemas.openxmlformats.org/officeDocument/2006/relationships/slide" Target="/ppt/slides/slide9.xml" Id="Ra37cd92ca48b4737" /><Relationship Type="http://schemas.openxmlformats.org/officeDocument/2006/relationships/slide" Target="/ppt/slides/slide10.xml" Id="Re82d49fc236e46d4" /><Relationship Type="http://schemas.openxmlformats.org/officeDocument/2006/relationships/slide" Target="/ppt/slides/slide11.xml" Id="R87de5491ba564cc9" /><Relationship Type="http://schemas.openxmlformats.org/officeDocument/2006/relationships/slide" Target="/ppt/slides/slide12.xml" Id="Redcb94064ea946c6" /><Relationship Type="http://schemas.openxmlformats.org/officeDocument/2006/relationships/slide" Target="/ppt/slides/slide13.xml" Id="Rc334af5f8d8b4908" /><Relationship Type="http://schemas.openxmlformats.org/officeDocument/2006/relationships/slide" Target="/ppt/slides/slide14.xml" Id="Rbd5125e3896c4a32" /><Relationship Type="http://schemas.openxmlformats.org/officeDocument/2006/relationships/slide" Target="/ppt/slides/slide15.xml" Id="R34a2b6fac59a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674431606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12d017f3084900" /><Relationship Type="http://schemas.openxmlformats.org/officeDocument/2006/relationships/notesMaster" Target="/ppt/notesMasters/notesMaster1.xml" Id="Rd5bfee237ca74a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d4094850054807" /><Relationship Type="http://schemas.openxmlformats.org/officeDocument/2006/relationships/notesMaster" Target="/ppt/notesMasters/notesMaster1.xml" Id="Rbbfb8973e17949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e067e0e8db49e9" /><Relationship Type="http://schemas.openxmlformats.org/officeDocument/2006/relationships/notesMaster" Target="/ppt/notesMasters/notesMaster1.xml" Id="R0b4273956097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7270aaaa6c41c8" /><Relationship Type="http://schemas.openxmlformats.org/officeDocument/2006/relationships/notesMaster" Target="/ppt/notesMasters/notesMaster1.xml" Id="R65331f37c82241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84f2f6bcaa4c79" /><Relationship Type="http://schemas.openxmlformats.org/officeDocument/2006/relationships/notesMaster" Target="/ppt/notesMasters/notesMaster1.xml" Id="R4167e898270a44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896737965e44aa" /><Relationship Type="http://schemas.openxmlformats.org/officeDocument/2006/relationships/notesMaster" Target="/ppt/notesMasters/notesMaster1.xml" Id="Ra42e20b457254a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2ef7939f6d4ef5" /><Relationship Type="http://schemas.openxmlformats.org/officeDocument/2006/relationships/notesMaster" Target="/ppt/notesMasters/notesMaster1.xml" Id="R6df0cd9f6a304b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64a2be90f244e9" /><Relationship Type="http://schemas.openxmlformats.org/officeDocument/2006/relationships/notesMaster" Target="/ppt/notesMasters/notesMaster1.xml" Id="R520625dd706c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3b4ab543224efe" /><Relationship Type="http://schemas.openxmlformats.org/officeDocument/2006/relationships/notesMaster" Target="/ppt/notesMasters/notesMaster1.xml" Id="R1fe8ebe0437d4e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409cea17d74bcb" /><Relationship Type="http://schemas.openxmlformats.org/officeDocument/2006/relationships/notesMaster" Target="/ppt/notesMasters/notesMaster1.xml" Id="R3613181c2a4740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f2f380d3624b72" /><Relationship Type="http://schemas.openxmlformats.org/officeDocument/2006/relationships/notesMaster" Target="/ppt/notesMasters/notesMaster1.xml" Id="R42a9d3e7fb0049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a15099492c4623" /><Relationship Type="http://schemas.openxmlformats.org/officeDocument/2006/relationships/notesMaster" Target="/ppt/notesMasters/notesMaster1.xml" Id="R23982cead53842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9e22ed18c54c7e" /><Relationship Type="http://schemas.openxmlformats.org/officeDocument/2006/relationships/notesMaster" Target="/ppt/notesMasters/notesMaster1.xml" Id="Rdc041ba6cca946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bcfa8fd6f04009" /><Relationship Type="http://schemas.openxmlformats.org/officeDocument/2006/relationships/notesMaster" Target="/ppt/notesMasters/notesMaster1.xml" Id="R8b20b22b369847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25bf5daa004949" /><Relationship Type="http://schemas.openxmlformats.org/officeDocument/2006/relationships/notesMaster" Target="/ppt/notesMasters/notesMaster1.xml" Id="R67d2973d5692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约45秒。介绍公司名称与定位。本演示为教学模拟物料，公司、人员、经营数据和案例均为虚构。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约45秒。先理解企业阶段和业务问题，再确认对应的服务范围。四大板块共18项产品，不承诺节税额或收益。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约1分钟。依次介绍四项模拟经营数据，补充6名注册会计师、5名税务师。所有数字来自场景素材包。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约45秒。2015年起步于代理记账，2018年拓展税务咨询，2022年完成流程标准化，2024年设立数字化服务条线，2025年启动AI升级，2026年开展校企合作。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约45秒。四个板块分别有5、5、5、3项产品。后四页逐页讲解，客户可以只关注与自身相关的部分。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约1分钟。面向初创及成长期客户，提供基础性、常态化财税服务。</a:t>
            </a:r>
          </a:p>
          <a:p xmlns:a="http://schemas.openxmlformats.org/drawingml/2006/main">
            <a:r>
              <a:t>代理记账：月度建账记账、凭证编制、财务报表出具、日常账务咨询。</a:t>
            </a:r>
          </a:p>
          <a:p xmlns:a="http://schemas.openxmlformats.org/drawingml/2006/main">
            <a:r>
              <a:t>纳税申报：增值税、附加税、企业所得税预缴、个人所得税等各税种按期申报。</a:t>
            </a:r>
          </a:p>
          <a:p xmlns:a="http://schemas.openxmlformats.org/drawingml/2006/main">
            <a:r>
              <a:t>发票与票证管理：发票开具与勾选认证指导、全电发票流程辅导、票证合规检查。</a:t>
            </a:r>
          </a:p>
          <a:p xmlns:a="http://schemas.openxmlformats.org/drawingml/2006/main">
            <a:r>
              <a:t>工商登记与变更协办：公司注册、变更登记、年报公示的协办服务（配套业务）。</a:t>
            </a:r>
          </a:p>
          <a:p xmlns:a="http://schemas.openxmlformats.org/drawingml/2006/main">
            <a:r>
              <a:t>初创企业财税辅导：新办企业税种核定、银行与开票设置、建账初始化与开办期辅导。</a:t>
            </a:r>
          </a:p>
          <a:p xmlns:a="http://schemas.openxmlformats.org/drawingml/2006/main">
            <a:r>
              <a:t>工商登记为协办业务，专项审核为审核协助与鉴证对接。数字化服务包含应用场景设计和POC评估，不替代专业判断。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约1分钟。围绕专项税务问题与年度合规事项，提供咨询、复核与专业意见。</a:t>
            </a:r>
          </a:p>
          <a:p xmlns:a="http://schemas.openxmlformats.org/drawingml/2006/main">
            <a:r>
              <a:t>常年财税顾问：专属顾问年度服务，日常政策答疑、合同涉税条款审阅、重大事项咨询。</a:t>
            </a:r>
          </a:p>
          <a:p xmlns:a="http://schemas.openxmlformats.org/drawingml/2006/main">
            <a:r>
              <a:t>税务健康检查：旧账清理、申报数据自查、税务风险点排查与整改建议。</a:t>
            </a:r>
          </a:p>
          <a:p xmlns:a="http://schemas.openxmlformats.org/drawingml/2006/main">
            <a:r>
              <a:t>税务合规筹划：在合法合规前提下进行组织形式、业务模式、优惠适用的税务安排。</a:t>
            </a:r>
          </a:p>
          <a:p xmlns:a="http://schemas.openxmlformats.org/drawingml/2006/main">
            <a:r>
              <a:t>企业所得税汇算清缴咨询：年度汇算清缴全流程咨询：纳税调整、资产税务处理、优惠适用、亏损弥补、申报表填报与风险自查。每年1至5月为服务旺季。</a:t>
            </a:r>
          </a:p>
          <a:p xmlns:a="http://schemas.openxmlformats.org/drawingml/2006/main">
            <a:r>
              <a:t>税务风险评估与稽查应对：风险预警、约谈协助、税企争议专业意见、陈述申辩材料支持。</a:t>
            </a:r>
          </a:p>
          <a:p xmlns:a="http://schemas.openxmlformats.org/drawingml/2006/main">
            <a:r>
              <a:t>工商登记为协办业务，专项审核为审核协助与鉴证对接。数字化服务包含应用场景设计和POC评估，不替代专业判断。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约1分钟。支持成长期企业的财务管理能力建设与非日常专项事项。</a:t>
            </a:r>
          </a:p>
          <a:p xmlns:a="http://schemas.openxmlformats.org/drawingml/2006/main">
            <a:r>
              <a:t>财务外包：成长期企业财务部门托管、阶段性财务负责人支持。</a:t>
            </a:r>
          </a:p>
          <a:p xmlns:a="http://schemas.openxmlformats.org/drawingml/2006/main">
            <a:r>
              <a:t>管理报表与财务分析：管理报表体系搭建、经营分析、预算与成本管理基础建设。</a:t>
            </a:r>
          </a:p>
          <a:p xmlns:a="http://schemas.openxmlformats.org/drawingml/2006/main">
            <a:r>
              <a:t>财税培训与公开课：面向客户的政策公开课、企业内训、行业专题讲座。</a:t>
            </a:r>
          </a:p>
          <a:p xmlns:a="http://schemas.openxmlformats.org/drawingml/2006/main">
            <a:r>
              <a:t>专项审核协助：高新认定、研发加计、注销清算等专项资料审核与鉴证对接。</a:t>
            </a:r>
          </a:p>
          <a:p xmlns:a="http://schemas.openxmlformats.org/drawingml/2006/main">
            <a:r>
              <a:t>重组与清算咨询：企业重组、股权变更、注销清算等事项的入门级财税咨询。</a:t>
            </a:r>
          </a:p>
          <a:p xmlns:a="http://schemas.openxmlformats.org/drawingml/2006/main">
            <a:r>
              <a:t>工商登记为协办业务，专项审核为审核协助与鉴证对接。数字化服务包含应用场景设计和POC评估，不替代专业判断。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约1分钟。为企业梳理知识、设计应用场景，支持财税工作数字化。</a:t>
            </a:r>
          </a:p>
          <a:p xmlns:a="http://schemas.openxmlformats.org/drawingml/2006/main">
            <a:r>
              <a:t>财税知识库建设与运维：政策法规库、问答口径库、案例库的梳理、结构化与日常更新。</a:t>
            </a:r>
          </a:p>
          <a:p xmlns:a="http://schemas.openxmlformats.org/drawingml/2006/main">
            <a:r>
              <a:t>智能问答助手搭建咨询：基于知识库的智能问答应用场景设计、提示词规则与效果评估咨询。</a:t>
            </a:r>
          </a:p>
          <a:p xmlns:a="http://schemas.openxmlformats.org/drawingml/2006/main">
            <a:r>
              <a:t>办公自动化与工具选型：RPA与自动化流程设计、AI办公工具调研选型与试用评估（POC）支持。</a:t>
            </a:r>
          </a:p>
          <a:p xmlns:a="http://schemas.openxmlformats.org/drawingml/2006/main">
            <a:r>
              <a:t>工商登记为协办业务，专项审核为审核协助与鉴证对接。数字化服务包含应用场景设计和POC评估，不替代专业判断。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约1分钟。按客户行业选择需要展开的关注点。跨境电商限入门级咨询。这里概述工作关注点，不提供实时政策税率。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约1分钟。陈守正：创始人 / 总经理。曾在大型企业任财务负责人，2015年创办明德。</a:t>
            </a:r>
          </a:p>
          <a:p xmlns:a="http://schemas.openxmlformats.org/drawingml/2006/main">
            <a:r>
              <a:t>林知远：副总经理 / 财税业务中心负责人。主管业务交付与专业把关。</a:t>
            </a:r>
          </a:p>
          <a:p xmlns:a="http://schemas.openxmlformats.org/drawingml/2006/main">
            <a:r>
              <a:t>苏文清：专业支持部经理。负责知识库建设与三级质量复核制度。</a:t>
            </a:r>
          </a:p>
          <a:p xmlns:a="http://schemas.openxmlformats.org/drawingml/2006/main">
            <a:r>
              <a:t>何立行：税务服务部经理。项目制交付经验丰富，擅长汇算清缴专项组织。</a:t>
            </a:r>
          </a:p>
          <a:p xmlns:a="http://schemas.openxmlformats.org/drawingml/2006/main">
            <a:r>
              <a:t>周明瑶：数字化创新主管。主导AI工具选型与智能助手项目。</a:t>
            </a:r>
          </a:p>
          <a:p xmlns:a="http://schemas.openxmlformats.org/drawingml/2006/main">
            <a:r>
              <a:t>吴念安：高级税务顾问。精通税收优惠与研发费用加计扣除。</a:t>
            </a:r>
          </a:p>
          <a:p xmlns:a="http://schemas.openxmlformats.org/drawingml/2006/main">
            <a:r>
              <a:t>赵以恒：客户成功主管。保障服务响应与体验。全部为虚构教学角色。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约1分钟。依次介绍三级复核。先约定服务范围，收集资料，再由不同角色复核。各角色职责是对素材中三级复核制度的教学呈现。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约1分钟。一杯轻茶 / 门店合规：3家门店、加盟扩张中，需厘清业务招待费与广宣费区分，以及加盟费与临时工薪酬的票据合规。 提供代理记账、纳税申报与日常合规服务，围绕具体业务梳理费用分类与票据资料。 代账与申报服务，费用分类及票据合规辅导。 厘清费用区分，规范加盟与用工相关票据资料。 案例已脱敏，仅供教学演示。</a:t>
            </a:r>
          </a:p>
          <a:p xmlns:a="http://schemas.openxmlformats.org/drawingml/2006/main">
            <a:r>
              <a:t>云启信息 / 研发资料：小型微利优惠与研发费用加计扣除的适用，需要规范的研发人员工时与辅助账记录。 辅导研发人员工时归集与辅助账管理，结合业务资料梳理相关优惠适用。 工时归集与辅助账管理辅导、常年顾问支持。 规范研发资料，顺利适用相关优惠政策。 案例已脱敏，仅供教学演示。</a:t>
            </a:r>
          </a:p>
          <a:p xmlns:a="http://schemas.openxmlformats.org/drawingml/2006/main">
            <a:r>
              <a:t>明序设计 / 跨期核算：跨年度合同、收入确认时点与完工进度不一致。 围绕合同与项目进度建立核算口径，提供财务外包支持。 跨期项目核算口径与财务外包支持。 建立与合同、完工进度相衔接的核算口径。 案例已脱敏，仅供教学演示。</a:t>
            </a:r>
          </a:p>
          <a:p xmlns:a="http://schemas.openxmlformats.org/drawingml/2006/main">
            <a:r>
              <a:t>恒顺五金 / 资产事项：设备一次性税前扣除、固定资产折旧税会差异与搬迁补偿事项需梳理。 开展税务健康检查，梳理资产相关资料与税会差异。 资产事项梳理与税务健康检查支持。 明确设备、折旧和搬迁补偿事项的关注点。 案例已脱敏，仅供教学演示。</a:t>
            </a:r>
          </a:p>
          <a:p xmlns:a="http://schemas.openxmlformats.org/drawingml/2006/main">
            <a:r>
              <a:t>跨境电商 / 收款口径：多平台收款数据与申报口径不一致，并涉及出口退免税基础合规。 以收款数据归集与基础申报口径为切入点，提供入门级咨询。 平台数据与申报口径的基础梳理。 作为服务拓展情境，展示基础合规问题的识别路径。 案例已脱敏，仅供教学演示。此案例为拓展情境，不代表已完成项目。不编造具体收益数字，不作效果承诺。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约45秒。解释素材中的四项服务承诺。数字化知识库支持专业工作，不替代顾问判断。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约45秒。询问企业类型、业务阶段和当前问题，下一步确认服务范围与资料清单。所有联系方式为教学占位。网站表单仅本地生成需求单，不向外发送。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资料来源：《项目2_场景素材包 V2.1》，用户提供。本演示为教学模拟，不得用于真实商业活动。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6c88d293643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1291f85ef4e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fee5d491d4c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22f4c40b245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c72b6f8f949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aecd3ed8b40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F8DB43-35E3-4ABD-9721-A802562E1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F373C-8B36-48C4-8A5D-78952D8606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A04D84-74BD-4A26-92D0-3D1C6F732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580CC1-17CA-4C27-A26F-F221B63C2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D9D668-BCEE-4A55-BB9F-A24F679153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36BF15-71FA-451E-A723-7A024D15B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351110-CE44-437B-B0AB-2A23A7723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93993E-E7A0-4D44-B319-5F320A28EC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DE0103-2625-4995-BEE5-B9A20131E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B8CDB6-89AF-4A44-BC2C-DDFB54EF94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be87c3458439c" /><Relationship Type="http://schemas.openxmlformats.org/officeDocument/2006/relationships/slideLayout" Target="/ppt/slideLayouts/slideLayout1.xml" Id="Rb9b0dc5ce4a9457e" /><Relationship Type="http://schemas.openxmlformats.org/officeDocument/2006/relationships/slideLayout" Target="/ppt/slideLayouts/slideLayout2.xml" Id="R56380f67885945e6" /><Relationship Type="http://schemas.openxmlformats.org/officeDocument/2006/relationships/slideLayout" Target="/ppt/slideLayouts/slideLayout3.xml" Id="Rdfd562c76b7f4c05" /><Relationship Type="http://schemas.openxmlformats.org/officeDocument/2006/relationships/slideLayout" Target="/ppt/slideLayouts/slideLayout4.xml" Id="R40f1ea68b7e24c87" /><Relationship Type="http://schemas.openxmlformats.org/officeDocument/2006/relationships/slideLayout" Target="/ppt/slideLayouts/slideLayout5.xml" Id="Rc95927bd45914655" /><Relationship Type="http://schemas.openxmlformats.org/officeDocument/2006/relationships/slideLayout" Target="/ppt/slideLayouts/slideLayout6.xml" Id="Rc7070115585040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b0dc5ce4a9457e"/>
    <p:sldLayoutId xmlns:r="http://schemas.openxmlformats.org/officeDocument/2006/relationships" id="2147483650" r:id="R56380f67885945e6"/>
    <p:sldLayoutId xmlns:r="http://schemas.openxmlformats.org/officeDocument/2006/relationships" id="2147483651" r:id="Rdfd562c76b7f4c05"/>
    <p:sldLayoutId xmlns:r="http://schemas.openxmlformats.org/officeDocument/2006/relationships" id="2147483652" r:id="R40f1ea68b7e24c87"/>
    <p:sldLayoutId xmlns:r="http://schemas.openxmlformats.org/officeDocument/2006/relationships" id="2147483653" r:id="Rc95927bd45914655"/>
    <p:sldLayoutId xmlns:r="http://schemas.openxmlformats.org/officeDocument/2006/relationships" id="2147483654" r:id="Rc7070115585040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07ed12a664847" /><Relationship Type="http://schemas.openxmlformats.org/officeDocument/2006/relationships/notesSlide" Target="/ppt/notesSlides/notesSlide1.xml" Id="R0042b52d77d543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053e629c34897" /><Relationship Type="http://schemas.openxmlformats.org/officeDocument/2006/relationships/notesSlide" Target="/ppt/notesSlides/notesSlide2.xml" Id="R504ccfc5007641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73e3d68664dcb" /><Relationship Type="http://schemas.openxmlformats.org/officeDocument/2006/relationships/notesSlide" Target="/ppt/notesSlides/notesSlide3.xml" Id="R8f3e68edeade40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8da7ec79142d8" /><Relationship Type="http://schemas.openxmlformats.org/officeDocument/2006/relationships/notesSlide" Target="/ppt/notesSlides/notesSlide4.xml" Id="R3cee127a5dea42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637209bed74d77" /><Relationship Type="http://schemas.openxmlformats.org/officeDocument/2006/relationships/notesSlide" Target="/ppt/notesSlides/notesSlide5.xml" Id="R9a63dbaa9d42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cce2395004b0b" /><Relationship Type="http://schemas.openxmlformats.org/officeDocument/2006/relationships/notesSlide" Target="/ppt/notesSlides/notesSlide6.xml" Id="Rf3cca778f0104e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9aaa585054332" /><Relationship Type="http://schemas.openxmlformats.org/officeDocument/2006/relationships/notesSlide" Target="/ppt/notesSlides/notesSlide7.xml" Id="R8da9a3b8a9d24c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2643bd8774bbe" /><Relationship Type="http://schemas.openxmlformats.org/officeDocument/2006/relationships/notesSlide" Target="/ppt/notesSlides/notesSlide8.xml" Id="Rc82cff24ec61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dce761ed04a4c" /><Relationship Type="http://schemas.openxmlformats.org/officeDocument/2006/relationships/notesSlide" Target="/ppt/notesSlides/notesSlide9.xml" Id="R62c01048cc6a4c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4cadd75784800" /><Relationship Type="http://schemas.openxmlformats.org/officeDocument/2006/relationships/notesSlide" Target="/ppt/notesSlides/notesSlide10.xml" Id="R699189c4e6a548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aa5e9232f4154" /><Relationship Type="http://schemas.openxmlformats.org/officeDocument/2006/relationships/notesSlide" Target="/ppt/notesSlides/notesSlide11.xml" Id="R6d1fdefa44b742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335470986442d" /><Relationship Type="http://schemas.openxmlformats.org/officeDocument/2006/relationships/notesSlide" Target="/ppt/notesSlides/notesSlide12.xml" Id="R02c28fe3adf945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4f996fd91451a" /><Relationship Type="http://schemas.openxmlformats.org/officeDocument/2006/relationships/notesSlide" Target="/ppt/notesSlides/notesSlide13.xml" Id="Rddd909bdd8ad4d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36c361b3d4c91" /><Relationship Type="http://schemas.openxmlformats.org/officeDocument/2006/relationships/notesSlide" Target="/ppt/notesSlides/notesSlide14.xml" Id="R411b03f0eab849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0a4d90e53442f" /><Relationship Type="http://schemas.openxmlformats.org/officeDocument/2006/relationships/notesSlide" Target="/ppt/notesSlides/notesSlide15.xml" Id="Rd11523c73a234e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1">
            <a:extLst xmlns:a="http://schemas.openxmlformats.org/drawingml/2006/main">
              <a:ext uri="{FF2B5EF4-FFF2-40B4-BE49-F238E27FC236}">
                <a16:creationId xmlns:a16="http://schemas.microsoft.com/office/drawing/2014/main" id="{4F587733-A119-4048-BE1F-985322D3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8115334C-41D5-4A5F-A64D-953E337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01 / 15</a:t>
            </a:r>
          </a:p>
        </p:txBody>
      </p:sp>
      <p:sp>
        <p:nvSpPr>
          <p:cNvPr id="3" name="graphic-3">
            <a:extLst xmlns:a="http://schemas.openxmlformats.org/drawingml/2006/main">
              <a:ext uri="{FF2B5EF4-FFF2-40B4-BE49-F238E27FC236}">
                <a16:creationId xmlns:a16="http://schemas.microsoft.com/office/drawing/2014/main" id="{A638297B-2160-4DC8-9A5F-233D81A8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4">
            <a:extLst xmlns:a="http://schemas.openxmlformats.org/drawingml/2006/main">
              <a:ext uri="{FF2B5EF4-FFF2-40B4-BE49-F238E27FC236}">
                <a16:creationId xmlns:a16="http://schemas.microsoft.com/office/drawing/2014/main" id="{595D979D-A9A4-4D53-8D83-7C350363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C17957A6-93CD-43C0-BF27-E8D854D9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E86AA24B-D003-491C-BF58-92F71A6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828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MINGDE.</a:t>
            </a:r>
          </a:p>
        </p:txBody>
      </p:sp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C9897D2A-65EC-421F-9F82-53F06463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733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以专业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厘清每一步</a:t>
            </a:r>
          </a:p>
        </p:txBody>
      </p:sp>
      <p:sp>
        <p:nvSpPr>
          <p:cNvPr id="8" name="copy-8">
            <a:extLst xmlns:a="http://schemas.openxmlformats.org/drawingml/2006/main">
              <a:ext uri="{FF2B5EF4-FFF2-40B4-BE49-F238E27FC236}">
                <a16:creationId xmlns:a16="http://schemas.microsoft.com/office/drawing/2014/main" id="{246A5875-5D95-44C9-820A-C2A23E5A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上海明德财税咨询有限公司</a:t>
            </a:r>
          </a:p>
        </p:txBody>
      </p:sp>
      <p:sp>
        <p:nvSpPr>
          <p:cNvPr id="9" name="graphic-9">
            <a:extLst xmlns:a="http://schemas.openxmlformats.org/drawingml/2006/main">
              <a:ext uri="{FF2B5EF4-FFF2-40B4-BE49-F238E27FC236}">
                <a16:creationId xmlns:a16="http://schemas.microsoft.com/office/drawing/2014/main" id="{B332FA41-717B-48A5-B473-D760C167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85925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aphic-10">
            <a:extLst xmlns:a="http://schemas.openxmlformats.org/drawingml/2006/main">
              <a:ext uri="{FF2B5EF4-FFF2-40B4-BE49-F238E27FC236}">
                <a16:creationId xmlns:a16="http://schemas.microsoft.com/office/drawing/2014/main" id="{297D4C05-9537-45E6-857E-A53D391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7157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2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aphic-11">
            <a:extLst xmlns:a="http://schemas.openxmlformats.org/drawingml/2006/main">
              <a:ext uri="{FF2B5EF4-FFF2-40B4-BE49-F238E27FC236}">
                <a16:creationId xmlns:a16="http://schemas.microsoft.com/office/drawing/2014/main" id="{4A60492C-7CA7-46A9-84EB-B57AD730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33775"/>
            <a:ext cx="809625" cy="80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py-12">
            <a:extLst xmlns:a="http://schemas.openxmlformats.org/drawingml/2006/main">
              <a:ext uri="{FF2B5EF4-FFF2-40B4-BE49-F238E27FC236}">
                <a16:creationId xmlns:a16="http://schemas.microsoft.com/office/drawing/2014/main" id="{28ECDBDA-318C-41E4-A7FE-FC9E40D1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650321227"/>
      </p:ext>
    </p:extLst>
  </p:cSld>
  <p:transition spd="slow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13">
            <a:extLst xmlns:a="http://schemas.openxmlformats.org/drawingml/2006/main">
              <a:ext uri="{FF2B5EF4-FFF2-40B4-BE49-F238E27FC236}">
                <a16:creationId xmlns:a16="http://schemas.microsoft.com/office/drawing/2014/main" id="{853853BA-2F9F-49E1-9274-A2F30CCF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14">
            <a:extLst xmlns:a="http://schemas.openxmlformats.org/drawingml/2006/main">
              <a:ext uri="{FF2B5EF4-FFF2-40B4-BE49-F238E27FC236}">
                <a16:creationId xmlns:a16="http://schemas.microsoft.com/office/drawing/2014/main" id="{888CC12F-4FC7-4CC4-BDE5-80C6CF8E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  <p:sp>
        <p:nvSpPr>
          <p:cNvPr id="3" name="graphic-15">
            <a:extLst xmlns:a="http://schemas.openxmlformats.org/drawingml/2006/main">
              <a:ext uri="{FF2B5EF4-FFF2-40B4-BE49-F238E27FC236}">
                <a16:creationId xmlns:a16="http://schemas.microsoft.com/office/drawing/2014/main" id="{C83236B5-0F4B-4893-B0A1-01330C0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16">
            <a:extLst xmlns:a="http://schemas.openxmlformats.org/drawingml/2006/main">
              <a:ext uri="{FF2B5EF4-FFF2-40B4-BE49-F238E27FC236}">
                <a16:creationId xmlns:a16="http://schemas.microsoft.com/office/drawing/2014/main" id="{85D7044B-7E9A-4CA1-A169-B70F4CBE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17">
            <a:extLst xmlns:a="http://schemas.openxmlformats.org/drawingml/2006/main">
              <a:ext uri="{FF2B5EF4-FFF2-40B4-BE49-F238E27FC236}">
                <a16:creationId xmlns:a16="http://schemas.microsoft.com/office/drawing/2014/main" id="{BA8614A6-4FDB-4DA9-8233-52C4AE1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18">
            <a:extLst xmlns:a="http://schemas.openxmlformats.org/drawingml/2006/main">
              <a:ext uri="{FF2B5EF4-FFF2-40B4-BE49-F238E27FC236}">
                <a16:creationId xmlns:a16="http://schemas.microsoft.com/office/drawing/2014/main" id="{83DE06BE-733C-4984-BBAC-ACECF05A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1049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中小微企业的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2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财税服务伙伴</a:t>
            </a:r>
          </a:p>
        </p:txBody>
      </p:sp>
      <p:sp>
        <p:nvSpPr>
          <p:cNvPr id="7" name="copy-19">
            <a:extLst xmlns:a="http://schemas.openxmlformats.org/drawingml/2006/main">
              <a:ext uri="{FF2B5EF4-FFF2-40B4-BE49-F238E27FC236}">
                <a16:creationId xmlns:a16="http://schemas.microsoft.com/office/drawing/2014/main" id="{5A2F481A-4737-4D78-AEA4-C937549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为中小微企业提供专业、可负担的全周期财税服务。</a:t>
            </a:r>
          </a:p>
        </p:txBody>
      </p:sp>
      <p:sp>
        <p:nvSpPr>
          <p:cNvPr id="8" name="graphic-20">
            <a:extLst xmlns:a="http://schemas.openxmlformats.org/drawingml/2006/main">
              <a:ext uri="{FF2B5EF4-FFF2-40B4-BE49-F238E27FC236}">
                <a16:creationId xmlns:a16="http://schemas.microsoft.com/office/drawing/2014/main" id="{689A8CFE-95B3-49A1-8016-75AC0729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ild-1-21">
            <a:extLst xmlns:a="http://schemas.openxmlformats.org/drawingml/2006/main">
              <a:ext uri="{FF2B5EF4-FFF2-40B4-BE49-F238E27FC236}">
                <a16:creationId xmlns:a16="http://schemas.microsoft.com/office/drawing/2014/main" id="{56FA8EB3-8540-49F3-97FA-D69E594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会计与申报</a:t>
            </a:r>
          </a:p>
        </p:txBody>
      </p:sp>
      <p:sp>
        <p:nvSpPr>
          <p:cNvPr id="10" name="build-1-22">
            <a:extLst xmlns:a="http://schemas.openxmlformats.org/drawingml/2006/main">
              <a:ext uri="{FF2B5EF4-FFF2-40B4-BE49-F238E27FC236}">
                <a16:creationId xmlns:a16="http://schemas.microsoft.com/office/drawing/2014/main" id="{FEDBFBF1-12E8-4C00-8D84-3622B79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日常账务与按期申报</a:t>
            </a:r>
          </a:p>
        </p:txBody>
      </p:sp>
      <p:sp>
        <p:nvSpPr>
          <p:cNvPr id="11" name="graphic-23">
            <a:extLst xmlns:a="http://schemas.openxmlformats.org/drawingml/2006/main">
              <a:ext uri="{FF2B5EF4-FFF2-40B4-BE49-F238E27FC236}">
                <a16:creationId xmlns:a16="http://schemas.microsoft.com/office/drawing/2014/main" id="{B0015279-96F5-45C3-A93F-DDB81D0E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291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ild-2-24">
            <a:extLst xmlns:a="http://schemas.openxmlformats.org/drawingml/2006/main">
              <a:ext uri="{FF2B5EF4-FFF2-40B4-BE49-F238E27FC236}">
                <a16:creationId xmlns:a16="http://schemas.microsoft.com/office/drawing/2014/main" id="{2977A243-03A2-4E42-90E2-302A78E2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57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税务与合规</a:t>
            </a:r>
          </a:p>
        </p:txBody>
      </p:sp>
      <p:sp>
        <p:nvSpPr>
          <p:cNvPr id="13" name="build-2-25">
            <a:extLst xmlns:a="http://schemas.openxmlformats.org/drawingml/2006/main">
              <a:ext uri="{FF2B5EF4-FFF2-40B4-BE49-F238E27FC236}">
                <a16:creationId xmlns:a16="http://schemas.microsoft.com/office/drawing/2014/main" id="{D2AD895F-2240-4D91-9658-6D80510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86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专项问题与年度合规</a:t>
            </a:r>
          </a:p>
        </p:txBody>
      </p:sp>
      <p:sp>
        <p:nvSpPr>
          <p:cNvPr id="14" name="graphic-26">
            <a:extLst xmlns:a="http://schemas.openxmlformats.org/drawingml/2006/main">
              <a:ext uri="{FF2B5EF4-FFF2-40B4-BE49-F238E27FC236}">
                <a16:creationId xmlns:a16="http://schemas.microsoft.com/office/drawing/2014/main" id="{AF22F4CE-429A-4E2B-885F-2CA3E10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ild-3-27">
            <a:extLst xmlns:a="http://schemas.openxmlformats.org/drawingml/2006/main">
              <a:ext uri="{FF2B5EF4-FFF2-40B4-BE49-F238E27FC236}">
                <a16:creationId xmlns:a16="http://schemas.microsoft.com/office/drawing/2014/main" id="{FFDB80FF-188C-40ED-BB51-67E0E99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财务与管理</a:t>
            </a:r>
          </a:p>
        </p:txBody>
      </p:sp>
      <p:sp>
        <p:nvSpPr>
          <p:cNvPr id="16" name="build-3-28">
            <a:extLst xmlns:a="http://schemas.openxmlformats.org/drawingml/2006/main">
              <a:ext uri="{FF2B5EF4-FFF2-40B4-BE49-F238E27FC236}">
                <a16:creationId xmlns:a16="http://schemas.microsoft.com/office/drawing/2014/main" id="{8AD4EBEA-AC24-46A5-BFC5-2AFDFA9A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86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企业成长与经营分析</a:t>
            </a:r>
          </a:p>
        </p:txBody>
      </p:sp>
      <p:sp>
        <p:nvSpPr>
          <p:cNvPr id="17" name="graphic-29">
            <a:extLst xmlns:a="http://schemas.openxmlformats.org/drawingml/2006/main">
              <a:ext uri="{FF2B5EF4-FFF2-40B4-BE49-F238E27FC236}">
                <a16:creationId xmlns:a16="http://schemas.microsoft.com/office/drawing/2014/main" id="{D7E878FF-6BE0-4C93-81D4-D1CBF8D2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ild-4-30">
            <a:extLst xmlns:a="http://schemas.openxmlformats.org/drawingml/2006/main">
              <a:ext uri="{FF2B5EF4-FFF2-40B4-BE49-F238E27FC236}">
                <a16:creationId xmlns:a16="http://schemas.microsoft.com/office/drawing/2014/main" id="{147EDECF-85B4-469A-B358-ABD2210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577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财税数字化</a:t>
            </a:r>
          </a:p>
        </p:txBody>
      </p:sp>
      <p:sp>
        <p:nvSpPr>
          <p:cNvPr id="19" name="build-4-31">
            <a:extLst xmlns:a="http://schemas.openxmlformats.org/drawingml/2006/main">
              <a:ext uri="{FF2B5EF4-FFF2-40B4-BE49-F238E27FC236}">
                <a16:creationId xmlns:a16="http://schemas.microsoft.com/office/drawing/2014/main" id="{E96E2D50-E12B-4CB6-9B1D-2ED3715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知识、工具与流程应用</a:t>
            </a:r>
          </a:p>
        </p:txBody>
      </p:sp>
    </p:spTree>
    <p:extLst>
      <p:ext uri="{BB962C8B-B14F-4D97-AF65-F5344CB8AC3E}">
        <p14:creationId xmlns:p14="http://schemas.microsoft.com/office/powerpoint/2010/main" val="731864580"/>
      </p:ext>
    </p:extLst>
  </p:cSld>
  <p:transition spd="slow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build="allAtOnce"/>
      <p:bldP spid="10" grpId="1" build="allAtOnce"/>
      <p:bldP spid="12" grpId="2" build="allAtOnce"/>
      <p:bldP spid="13" grpId="2" build="allAtOnce"/>
      <p:bldP spid="15" grpId="3" build="allAtOnce"/>
      <p:bldP spid="16" grpId="3" build="allAtOnce"/>
      <p:bldP spid="18" grpId="4" build="allAtOnce"/>
      <p:bldP spid="19" grpId="4" build="allAtOnce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32">
            <a:extLst xmlns:a="http://schemas.openxmlformats.org/drawingml/2006/main">
              <a:ext uri="{FF2B5EF4-FFF2-40B4-BE49-F238E27FC236}">
                <a16:creationId xmlns:a16="http://schemas.microsoft.com/office/drawing/2014/main" id="{F2429B5F-1914-498A-B84D-C7CFD48C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33">
            <a:extLst xmlns:a="http://schemas.openxmlformats.org/drawingml/2006/main">
              <a:ext uri="{FF2B5EF4-FFF2-40B4-BE49-F238E27FC236}">
                <a16:creationId xmlns:a16="http://schemas.microsoft.com/office/drawing/2014/main" id="{FBC38B9A-E738-42FF-8536-A2D34E9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  <p:sp>
        <p:nvSpPr>
          <p:cNvPr id="3" name="graphic-34">
            <a:extLst xmlns:a="http://schemas.openxmlformats.org/drawingml/2006/main">
              <a:ext uri="{FF2B5EF4-FFF2-40B4-BE49-F238E27FC236}">
                <a16:creationId xmlns:a16="http://schemas.microsoft.com/office/drawing/2014/main" id="{95EA14A8-C138-4D67-9002-F6F9878E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35">
            <a:extLst xmlns:a="http://schemas.openxmlformats.org/drawingml/2006/main">
              <a:ext uri="{FF2B5EF4-FFF2-40B4-BE49-F238E27FC236}">
                <a16:creationId xmlns:a16="http://schemas.microsoft.com/office/drawing/2014/main" id="{D8BAEE70-10AE-4212-B389-7556BC1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36">
            <a:extLst xmlns:a="http://schemas.openxmlformats.org/drawingml/2006/main">
              <a:ext uri="{FF2B5EF4-FFF2-40B4-BE49-F238E27FC236}">
                <a16:creationId xmlns:a16="http://schemas.microsoft.com/office/drawing/2014/main" id="{BE2F0F66-8313-4AE3-9773-DF298BC5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37">
            <a:extLst xmlns:a="http://schemas.openxmlformats.org/drawingml/2006/main">
              <a:ext uri="{FF2B5EF4-FFF2-40B4-BE49-F238E27FC236}">
                <a16:creationId xmlns:a16="http://schemas.microsoft.com/office/drawing/2014/main" id="{4370ADC7-5BCC-4808-B8F2-F7755030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关于明德</a:t>
            </a:r>
          </a:p>
        </p:txBody>
      </p:sp>
      <p:sp>
        <p:nvSpPr>
          <p:cNvPr id="7" name="graphic-38">
            <a:extLst xmlns:a="http://schemas.openxmlformats.org/drawingml/2006/main">
              <a:ext uri="{FF2B5EF4-FFF2-40B4-BE49-F238E27FC236}">
                <a16:creationId xmlns:a16="http://schemas.microsoft.com/office/drawing/2014/main" id="{FF1BE59A-C5E9-4790-8EBD-4CF36AB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1-39">
            <a:extLst xmlns:a="http://schemas.openxmlformats.org/drawingml/2006/main">
              <a:ext uri="{FF2B5EF4-FFF2-40B4-BE49-F238E27FC236}">
                <a16:creationId xmlns:a16="http://schemas.microsoft.com/office/drawing/2014/main" id="{4FBB81B9-D65D-4FC7-8FE6-55DA420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2015</a:t>
            </a:r>
          </a:p>
        </p:txBody>
      </p:sp>
      <p:sp>
        <p:nvSpPr>
          <p:cNvPr id="9" name="build-1-40">
            <a:extLst xmlns:a="http://schemas.openxmlformats.org/drawingml/2006/main">
              <a:ext uri="{FF2B5EF4-FFF2-40B4-BE49-F238E27FC236}">
                <a16:creationId xmlns:a16="http://schemas.microsoft.com/office/drawing/2014/main" id="{57B26CDC-7B49-4D1E-B80F-1148A924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年成立</a:t>
            </a:r>
          </a:p>
        </p:txBody>
      </p:sp>
      <p:sp>
        <p:nvSpPr>
          <p:cNvPr id="10" name="graphic-41">
            <a:extLst xmlns:a="http://schemas.openxmlformats.org/drawingml/2006/main">
              <a:ext uri="{FF2B5EF4-FFF2-40B4-BE49-F238E27FC236}">
                <a16:creationId xmlns:a16="http://schemas.microsoft.com/office/drawing/2014/main" id="{BD0B5D3F-6751-414F-93E9-AFE43942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98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ild-2-42">
            <a:extLst xmlns:a="http://schemas.openxmlformats.org/drawingml/2006/main">
              <a:ext uri="{FF2B5EF4-FFF2-40B4-BE49-F238E27FC236}">
                <a16:creationId xmlns:a16="http://schemas.microsoft.com/office/drawing/2014/main" id="{E39EE53F-5AFE-425D-9665-AC796853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2" name="build-2-43">
            <a:extLst xmlns:a="http://schemas.openxmlformats.org/drawingml/2006/main">
              <a:ext uri="{FF2B5EF4-FFF2-40B4-BE49-F238E27FC236}">
                <a16:creationId xmlns:a16="http://schemas.microsoft.com/office/drawing/2014/main" id="{F7338AB0-AC4C-4B37-A7AE-5D1DEDFD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人专业团队</a:t>
            </a:r>
          </a:p>
        </p:txBody>
      </p:sp>
      <p:sp>
        <p:nvSpPr>
          <p:cNvPr id="13" name="graphic-44">
            <a:extLst xmlns:a="http://schemas.openxmlformats.org/drawingml/2006/main">
              <a:ext uri="{FF2B5EF4-FFF2-40B4-BE49-F238E27FC236}">
                <a16:creationId xmlns:a16="http://schemas.microsoft.com/office/drawing/2014/main" id="{828D8D37-5CDC-48AB-9143-A6006A8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3-45">
            <a:extLst xmlns:a="http://schemas.openxmlformats.org/drawingml/2006/main">
              <a:ext uri="{FF2B5EF4-FFF2-40B4-BE49-F238E27FC236}">
                <a16:creationId xmlns:a16="http://schemas.microsoft.com/office/drawing/2014/main" id="{F6BEFC9D-8AF4-4962-8A32-A03C0C8B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1,200+</a:t>
            </a:r>
          </a:p>
        </p:txBody>
      </p:sp>
      <p:sp>
        <p:nvSpPr>
          <p:cNvPr id="15" name="build-3-46">
            <a:extLst xmlns:a="http://schemas.openxmlformats.org/drawingml/2006/main">
              <a:ext uri="{FF2B5EF4-FFF2-40B4-BE49-F238E27FC236}">
                <a16:creationId xmlns:a16="http://schemas.microsoft.com/office/drawing/2014/main" id="{57A4E085-7C18-47AE-9AB9-270F3E39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累计服务中小微企业</a:t>
            </a:r>
          </a:p>
        </p:txBody>
      </p:sp>
      <p:sp>
        <p:nvSpPr>
          <p:cNvPr id="16" name="graphic-47">
            <a:extLst xmlns:a="http://schemas.openxmlformats.org/drawingml/2006/main">
              <a:ext uri="{FF2B5EF4-FFF2-40B4-BE49-F238E27FC236}">
                <a16:creationId xmlns:a16="http://schemas.microsoft.com/office/drawing/2014/main" id="{B24DD570-48CE-40CA-94D5-D64FFC7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ild-4-48">
            <a:extLst xmlns:a="http://schemas.openxmlformats.org/drawingml/2006/main">
              <a:ext uri="{FF2B5EF4-FFF2-40B4-BE49-F238E27FC236}">
                <a16:creationId xmlns:a16="http://schemas.microsoft.com/office/drawing/2014/main" id="{21739268-D656-46BC-B227-E76A624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约420</a:t>
            </a:r>
          </a:p>
        </p:txBody>
      </p:sp>
      <p:sp>
        <p:nvSpPr>
          <p:cNvPr id="18" name="build-4-49">
            <a:extLst xmlns:a="http://schemas.openxmlformats.org/drawingml/2006/main">
              <a:ext uri="{FF2B5EF4-FFF2-40B4-BE49-F238E27FC236}">
                <a16:creationId xmlns:a16="http://schemas.microsoft.com/office/drawing/2014/main" id="{3EE04081-89FB-4D38-B523-ECBD7B0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家长期签约客户</a:t>
            </a:r>
          </a:p>
        </p:txBody>
      </p:sp>
      <p:sp>
        <p:nvSpPr>
          <p:cNvPr id="19" name="copy-50">
            <a:extLst xmlns:a="http://schemas.openxmlformats.org/drawingml/2006/main">
              <a:ext uri="{FF2B5EF4-FFF2-40B4-BE49-F238E27FC236}">
                <a16:creationId xmlns:a16="http://schemas.microsoft.com/office/drawing/2014/main" id="{939DA3AB-4CBC-45A3-98E1-E72BBD22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注册会计师6人 / 税务师5人 / 客户续费率约91%</a:t>
            </a:r>
          </a:p>
        </p:txBody>
      </p:sp>
    </p:spTree>
    <p:extLst>
      <p:ext uri="{BB962C8B-B14F-4D97-AF65-F5344CB8AC3E}">
        <p14:creationId xmlns:p14="http://schemas.microsoft.com/office/powerpoint/2010/main" val="1553837610"/>
      </p:ext>
    </p:extLst>
  </p:cSld>
  <p:transition spd="slow" advClick="1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9" grpId="1" build="allAtOnce"/>
      <p:bldP spid="11" grpId="2" build="allAtOnce"/>
      <p:bldP spid="12" grpId="2" build="allAtOnce"/>
      <p:bldP spid="14" grpId="3" build="allAtOnce"/>
      <p:bldP spid="15" grpId="3" build="allAtOnce"/>
      <p:bldP spid="17" grpId="4" build="allAtOnce"/>
      <p:bldP spid="18" grpId="4" build="allAtOnce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51">
            <a:extLst xmlns:a="http://schemas.openxmlformats.org/drawingml/2006/main">
              <a:ext uri="{FF2B5EF4-FFF2-40B4-BE49-F238E27FC236}">
                <a16:creationId xmlns:a16="http://schemas.microsoft.com/office/drawing/2014/main" id="{219F25B4-CBD5-4A62-B8D2-A479388C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52">
            <a:extLst xmlns:a="http://schemas.openxmlformats.org/drawingml/2006/main">
              <a:ext uri="{FF2B5EF4-FFF2-40B4-BE49-F238E27FC236}">
                <a16:creationId xmlns:a16="http://schemas.microsoft.com/office/drawing/2014/main" id="{BF506C46-BFED-4E23-B907-BBA56FB5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  <p:sp>
        <p:nvSpPr>
          <p:cNvPr id="3" name="graphic-53">
            <a:extLst xmlns:a="http://schemas.openxmlformats.org/drawingml/2006/main">
              <a:ext uri="{FF2B5EF4-FFF2-40B4-BE49-F238E27FC236}">
                <a16:creationId xmlns:a16="http://schemas.microsoft.com/office/drawing/2014/main" id="{7792B4C9-0E57-4D2C-92B4-61EE3EA2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54">
            <a:extLst xmlns:a="http://schemas.openxmlformats.org/drawingml/2006/main">
              <a:ext uri="{FF2B5EF4-FFF2-40B4-BE49-F238E27FC236}">
                <a16:creationId xmlns:a16="http://schemas.microsoft.com/office/drawing/2014/main" id="{6C5B2B29-27E1-416B-A33E-8A7160E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55">
            <a:extLst xmlns:a="http://schemas.openxmlformats.org/drawingml/2006/main">
              <a:ext uri="{FF2B5EF4-FFF2-40B4-BE49-F238E27FC236}">
                <a16:creationId xmlns:a16="http://schemas.microsoft.com/office/drawing/2014/main" id="{DA38BF7E-CBBA-4B10-AA06-72F81E9B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56">
            <a:extLst xmlns:a="http://schemas.openxmlformats.org/drawingml/2006/main">
              <a:ext uri="{FF2B5EF4-FFF2-40B4-BE49-F238E27FC236}">
                <a16:creationId xmlns:a16="http://schemas.microsoft.com/office/drawing/2014/main" id="{4E554D4A-8D35-4B14-A48B-1EDA010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公司发展历程</a:t>
            </a:r>
          </a:p>
        </p:txBody>
      </p:sp>
      <p:sp>
        <p:nvSpPr>
          <p:cNvPr id="7" name="graphic-57">
            <a:extLst xmlns:a="http://schemas.openxmlformats.org/drawingml/2006/main">
              <a:ext uri="{FF2B5EF4-FFF2-40B4-BE49-F238E27FC236}">
                <a16:creationId xmlns:a16="http://schemas.microsoft.com/office/drawing/2014/main" id="{A5CF64B9-EDF4-4C55-A150-3AD05348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1-58">
            <a:extLst xmlns:a="http://schemas.openxmlformats.org/drawingml/2006/main">
              <a:ext uri="{FF2B5EF4-FFF2-40B4-BE49-F238E27FC236}">
                <a16:creationId xmlns:a16="http://schemas.microsoft.com/office/drawing/2014/main" id="{A8088E77-81F1-478B-8EB7-5270BBF8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2015</a:t>
            </a:r>
          </a:p>
        </p:txBody>
      </p:sp>
      <p:sp>
        <p:nvSpPr>
          <p:cNvPr id="9" name="build-1-59">
            <a:extLst xmlns:a="http://schemas.openxmlformats.org/drawingml/2006/main">
              <a:ext uri="{FF2B5EF4-FFF2-40B4-BE49-F238E27FC236}">
                <a16:creationId xmlns:a16="http://schemas.microsoft.com/office/drawing/2014/main" id="{A05D5A4E-8375-4068-9B37-A5C01300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上海徐汇成立，首批8名员工，以代理记账为主业。</a:t>
            </a:r>
          </a:p>
        </p:txBody>
      </p:sp>
      <p:sp>
        <p:nvSpPr>
          <p:cNvPr id="10" name="graphic-60">
            <a:extLst xmlns:a="http://schemas.openxmlformats.org/drawingml/2006/main">
              <a:ext uri="{FF2B5EF4-FFF2-40B4-BE49-F238E27FC236}">
                <a16:creationId xmlns:a16="http://schemas.microsoft.com/office/drawing/2014/main" id="{309D03B8-31F6-4AF0-849A-804D8D21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ild-2-61">
            <a:extLst xmlns:a="http://schemas.openxmlformats.org/drawingml/2006/main">
              <a:ext uri="{FF2B5EF4-FFF2-40B4-BE49-F238E27FC236}">
                <a16:creationId xmlns:a16="http://schemas.microsoft.com/office/drawing/2014/main" id="{DC45E9A2-DD8A-453E-BDE7-86491053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52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2018</a:t>
            </a:r>
          </a:p>
        </p:txBody>
      </p:sp>
      <p:sp>
        <p:nvSpPr>
          <p:cNvPr id="12" name="build-2-62">
            <a:extLst xmlns:a="http://schemas.openxmlformats.org/drawingml/2006/main">
              <a:ext uri="{FF2B5EF4-FFF2-40B4-BE49-F238E27FC236}">
                <a16:creationId xmlns:a16="http://schemas.microsoft.com/office/drawing/2014/main" id="{4295E0E2-A7DF-4359-A2D6-612A31F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575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组建税务师团队，拓展税务咨询、汇算清缴与合规服务。</a:t>
            </a:r>
          </a:p>
        </p:txBody>
      </p:sp>
      <p:sp>
        <p:nvSpPr>
          <p:cNvPr id="13" name="graphic-63">
            <a:extLst xmlns:a="http://schemas.openxmlformats.org/drawingml/2006/main">
              <a:ext uri="{FF2B5EF4-FFF2-40B4-BE49-F238E27FC236}">
                <a16:creationId xmlns:a16="http://schemas.microsoft.com/office/drawing/2014/main" id="{2525461C-9473-4ABD-975A-EA549D38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3-64">
            <a:extLst xmlns:a="http://schemas.openxmlformats.org/drawingml/2006/main">
              <a:ext uri="{FF2B5EF4-FFF2-40B4-BE49-F238E27FC236}">
                <a16:creationId xmlns:a16="http://schemas.microsoft.com/office/drawing/2014/main" id="{5DEEF9E6-BD94-427D-8713-245456EB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5" name="build-3-65">
            <a:extLst xmlns:a="http://schemas.openxmlformats.org/drawingml/2006/main">
              <a:ext uri="{FF2B5EF4-FFF2-40B4-BE49-F238E27FC236}">
                <a16:creationId xmlns:a16="http://schemas.microsoft.com/office/drawing/2014/main" id="{2922A3DD-493A-4B69-8E6C-DB46877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完成服务流程标准化，建成三套内部知识库。</a:t>
            </a:r>
          </a:p>
        </p:txBody>
      </p:sp>
      <p:sp>
        <p:nvSpPr>
          <p:cNvPr id="16" name="graphic-66">
            <a:extLst xmlns:a="http://schemas.openxmlformats.org/drawingml/2006/main">
              <a:ext uri="{FF2B5EF4-FFF2-40B4-BE49-F238E27FC236}">
                <a16:creationId xmlns:a16="http://schemas.microsoft.com/office/drawing/2014/main" id="{0DA410D5-7D88-433C-98D1-44D625A7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ild-4-67">
            <a:extLst xmlns:a="http://schemas.openxmlformats.org/drawingml/2006/main">
              <a:ext uri="{FF2B5EF4-FFF2-40B4-BE49-F238E27FC236}">
                <a16:creationId xmlns:a16="http://schemas.microsoft.com/office/drawing/2014/main" id="{5D977A89-3180-4214-827D-EC17FC15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8" name="build-4-68">
            <a:extLst xmlns:a="http://schemas.openxmlformats.org/drawingml/2006/main">
              <a:ext uri="{FF2B5EF4-FFF2-40B4-BE49-F238E27FC236}">
                <a16:creationId xmlns:a16="http://schemas.microsoft.com/office/drawing/2014/main" id="{6E771813-E1CF-4441-B70A-84BC95FE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设立数字化服务条线，探索智能问答与RPA应用。</a:t>
            </a:r>
          </a:p>
        </p:txBody>
      </p:sp>
      <p:sp>
        <p:nvSpPr>
          <p:cNvPr id="19" name="graphic-69">
            <a:extLst xmlns:a="http://schemas.openxmlformats.org/drawingml/2006/main">
              <a:ext uri="{FF2B5EF4-FFF2-40B4-BE49-F238E27FC236}">
                <a16:creationId xmlns:a16="http://schemas.microsoft.com/office/drawing/2014/main" id="{D3B608B4-53E2-4474-AFB0-1085D573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38625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ild-5-70">
            <a:extLst xmlns:a="http://schemas.openxmlformats.org/drawingml/2006/main">
              <a:ext uri="{FF2B5EF4-FFF2-40B4-BE49-F238E27FC236}">
                <a16:creationId xmlns:a16="http://schemas.microsoft.com/office/drawing/2014/main" id="{5AA09C0F-932C-4BD3-8A62-4B34D27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100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21" name="build-5-71">
            <a:extLst xmlns:a="http://schemas.openxmlformats.org/drawingml/2006/main">
              <a:ext uri="{FF2B5EF4-FFF2-40B4-BE49-F238E27FC236}">
                <a16:creationId xmlns:a16="http://schemas.microsoft.com/office/drawing/2014/main" id="{3879D57D-22C1-4558-9205-904783B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1149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长期签约客户达420家，启动AI+财税数字化升级。</a:t>
            </a:r>
          </a:p>
        </p:txBody>
      </p:sp>
      <p:sp>
        <p:nvSpPr>
          <p:cNvPr id="22" name="graphic-72">
            <a:extLst xmlns:a="http://schemas.openxmlformats.org/drawingml/2006/main">
              <a:ext uri="{FF2B5EF4-FFF2-40B4-BE49-F238E27FC236}">
                <a16:creationId xmlns:a16="http://schemas.microsoft.com/office/drawing/2014/main" id="{94658DD1-0257-4FB5-A6BB-0AF023B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ild-6-73">
            <a:extLst xmlns:a="http://schemas.openxmlformats.org/drawingml/2006/main">
              <a:ext uri="{FF2B5EF4-FFF2-40B4-BE49-F238E27FC236}">
                <a16:creationId xmlns:a16="http://schemas.microsoft.com/office/drawing/2014/main" id="{3E591FFD-3142-404F-B873-3BE6822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4" name="build-6-74">
            <a:extLst xmlns:a="http://schemas.openxmlformats.org/drawingml/2006/main">
              <a:ext uri="{FF2B5EF4-FFF2-40B4-BE49-F238E27FC236}">
                <a16:creationId xmlns:a16="http://schemas.microsoft.com/office/drawing/2014/main" id="{AFF17D0F-5C63-4A5E-828E-D7E5201D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开展校企合作，启动官网改版与品牌视觉升级。</a:t>
            </a:r>
          </a:p>
        </p:txBody>
      </p:sp>
    </p:spTree>
    <p:extLst>
      <p:ext uri="{BB962C8B-B14F-4D97-AF65-F5344CB8AC3E}">
        <p14:creationId xmlns:p14="http://schemas.microsoft.com/office/powerpoint/2010/main" val="1849630257"/>
      </p:ext>
    </p:extLst>
  </p:cSld>
  <p:transition spd="slow" advClick="1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 grpId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9" grpId="1" build="allAtOnce"/>
      <p:bldP spid="11" grpId="2" build="allAtOnce"/>
      <p:bldP spid="12" grpId="2" build="allAtOnce"/>
      <p:bldP spid="14" grpId="3" build="allAtOnce"/>
      <p:bldP spid="15" grpId="3" build="allAtOnce"/>
      <p:bldP spid="17" grpId="4" build="allAtOnce"/>
      <p:bldP spid="18" grpId="4" build="allAtOnce"/>
      <p:bldP spid="20" grpId="5" build="allAtOnce"/>
      <p:bldP spid="21" grpId="5" build="allAtOnce"/>
      <p:bldP spid="23" grpId="6" build="allAtOnce"/>
      <p:bldP spid="24" grpId="6" build="allAtOnce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2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75">
            <a:extLst xmlns:a="http://schemas.openxmlformats.org/drawingml/2006/main">
              <a:ext uri="{FF2B5EF4-FFF2-40B4-BE49-F238E27FC236}">
                <a16:creationId xmlns:a16="http://schemas.microsoft.com/office/drawing/2014/main" id="{166799C3-91B2-4F76-B58F-17BF5251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76">
            <a:extLst xmlns:a="http://schemas.openxmlformats.org/drawingml/2006/main">
              <a:ext uri="{FF2B5EF4-FFF2-40B4-BE49-F238E27FC236}">
                <a16:creationId xmlns:a16="http://schemas.microsoft.com/office/drawing/2014/main" id="{300D9F9A-5C0E-413B-9060-C1296A9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  <p:sp>
        <p:nvSpPr>
          <p:cNvPr id="3" name="graphic-77">
            <a:extLst xmlns:a="http://schemas.openxmlformats.org/drawingml/2006/main">
              <a:ext uri="{FF2B5EF4-FFF2-40B4-BE49-F238E27FC236}">
                <a16:creationId xmlns:a16="http://schemas.microsoft.com/office/drawing/2014/main" id="{E12D7EEE-B7FE-4260-89F5-9C33504A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78">
            <a:extLst xmlns:a="http://schemas.openxmlformats.org/drawingml/2006/main">
              <a:ext uri="{FF2B5EF4-FFF2-40B4-BE49-F238E27FC236}">
                <a16:creationId xmlns:a16="http://schemas.microsoft.com/office/drawing/2014/main" id="{E665501A-E248-42F8-B0A3-FB851B6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79">
            <a:extLst xmlns:a="http://schemas.openxmlformats.org/drawingml/2006/main">
              <a:ext uri="{FF2B5EF4-FFF2-40B4-BE49-F238E27FC236}">
                <a16:creationId xmlns:a16="http://schemas.microsoft.com/office/drawing/2014/main" id="{A4C5BC36-5EFA-4ADE-8D1B-E85B48A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80">
            <a:extLst xmlns:a="http://schemas.openxmlformats.org/drawingml/2006/main">
              <a:ext uri="{FF2B5EF4-FFF2-40B4-BE49-F238E27FC236}">
                <a16:creationId xmlns:a16="http://schemas.microsoft.com/office/drawing/2014/main" id="{2A90E3F8-5F0A-4B64-8CF9-AE9C4209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四大板块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18项服务产品</a:t>
            </a:r>
          </a:p>
        </p:txBody>
      </p:sp>
      <p:sp>
        <p:nvSpPr>
          <p:cNvPr id="7" name="copy-81">
            <a:extLst xmlns:a="http://schemas.openxmlformats.org/drawingml/2006/main">
              <a:ext uri="{FF2B5EF4-FFF2-40B4-BE49-F238E27FC236}">
                <a16:creationId xmlns:a16="http://schemas.microsoft.com/office/drawing/2014/main" id="{4F0A62FD-2AD0-4E98-8ED5-2A19144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047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11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graphic-82">
            <a:extLst xmlns:a="http://schemas.openxmlformats.org/drawingml/2006/main">
              <a:ext uri="{FF2B5EF4-FFF2-40B4-BE49-F238E27FC236}">
                <a16:creationId xmlns:a16="http://schemas.microsoft.com/office/drawing/2014/main" id="{3600B66E-E615-453B-BA6E-9FAF7583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ild-1-83">
            <a:extLst xmlns:a="http://schemas.openxmlformats.org/drawingml/2006/main">
              <a:ext uri="{FF2B5EF4-FFF2-40B4-BE49-F238E27FC236}">
                <a16:creationId xmlns:a16="http://schemas.microsoft.com/office/drawing/2014/main" id="{6844B5D6-E83D-4E21-8C41-19FA61C9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build-1-84">
            <a:extLst xmlns:a="http://schemas.openxmlformats.org/drawingml/2006/main">
              <a:ext uri="{FF2B5EF4-FFF2-40B4-BE49-F238E27FC236}">
                <a16:creationId xmlns:a16="http://schemas.microsoft.com/office/drawing/2014/main" id="{C760B97A-D0EA-4450-B3B8-E2FCAD65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会计与申报</a:t>
            </a:r>
          </a:p>
        </p:txBody>
      </p:sp>
      <p:sp>
        <p:nvSpPr>
          <p:cNvPr id="11" name="build-1-85">
            <a:extLst xmlns:a="http://schemas.openxmlformats.org/drawingml/2006/main">
              <a:ext uri="{FF2B5EF4-FFF2-40B4-BE49-F238E27FC236}">
                <a16:creationId xmlns:a16="http://schemas.microsoft.com/office/drawing/2014/main" id="{CC7236F7-AB5E-4BDF-98FE-1C10F7B8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5项产品</a:t>
            </a:r>
          </a:p>
        </p:txBody>
      </p:sp>
      <p:sp>
        <p:nvSpPr>
          <p:cNvPr id="12" name="graphic-86">
            <a:extLst xmlns:a="http://schemas.openxmlformats.org/drawingml/2006/main">
              <a:ext uri="{FF2B5EF4-FFF2-40B4-BE49-F238E27FC236}">
                <a16:creationId xmlns:a16="http://schemas.microsoft.com/office/drawing/2014/main" id="{0EE0D069-9043-4C01-B390-FC924D9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099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ild-2-87">
            <a:extLst xmlns:a="http://schemas.openxmlformats.org/drawingml/2006/main">
              <a:ext uri="{FF2B5EF4-FFF2-40B4-BE49-F238E27FC236}">
                <a16:creationId xmlns:a16="http://schemas.microsoft.com/office/drawing/2014/main" id="{08271911-CC3B-4AB7-910F-5CE00363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38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build-2-88">
            <a:extLst xmlns:a="http://schemas.openxmlformats.org/drawingml/2006/main">
              <a:ext uri="{FF2B5EF4-FFF2-40B4-BE49-F238E27FC236}">
                <a16:creationId xmlns:a16="http://schemas.microsoft.com/office/drawing/2014/main" id="{B31C0417-B1D1-4E0B-884A-6077C83E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005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税务与合规</a:t>
            </a:r>
          </a:p>
        </p:txBody>
      </p:sp>
      <p:sp>
        <p:nvSpPr>
          <p:cNvPr id="15" name="build-2-89">
            <a:extLst xmlns:a="http://schemas.openxmlformats.org/drawingml/2006/main">
              <a:ext uri="{FF2B5EF4-FFF2-40B4-BE49-F238E27FC236}">
                <a16:creationId xmlns:a16="http://schemas.microsoft.com/office/drawing/2014/main" id="{02805B75-0D6B-42B0-A217-9AFD2C1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76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5项产品</a:t>
            </a:r>
          </a:p>
        </p:txBody>
      </p:sp>
      <p:sp>
        <p:nvSpPr>
          <p:cNvPr id="16" name="graphic-90">
            <a:extLst xmlns:a="http://schemas.openxmlformats.org/drawingml/2006/main">
              <a:ext uri="{FF2B5EF4-FFF2-40B4-BE49-F238E27FC236}">
                <a16:creationId xmlns:a16="http://schemas.microsoft.com/office/drawing/2014/main" id="{B8C43E09-EBA7-42C4-A6D1-6DD3FFC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ild-3-91">
            <a:extLst xmlns:a="http://schemas.openxmlformats.org/drawingml/2006/main">
              <a:ext uri="{FF2B5EF4-FFF2-40B4-BE49-F238E27FC236}">
                <a16:creationId xmlns:a16="http://schemas.microsoft.com/office/drawing/2014/main" id="{1DB7EA41-1BF9-4F87-B5B0-47822478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build-3-92">
            <a:extLst xmlns:a="http://schemas.openxmlformats.org/drawingml/2006/main">
              <a:ext uri="{FF2B5EF4-FFF2-40B4-BE49-F238E27FC236}">
                <a16:creationId xmlns:a16="http://schemas.microsoft.com/office/drawing/2014/main" id="{198D06D5-8601-495C-99C6-D0E5F1DA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财务与管理</a:t>
            </a:r>
          </a:p>
        </p:txBody>
      </p:sp>
      <p:sp>
        <p:nvSpPr>
          <p:cNvPr id="19" name="build-3-93">
            <a:extLst xmlns:a="http://schemas.openxmlformats.org/drawingml/2006/main">
              <a:ext uri="{FF2B5EF4-FFF2-40B4-BE49-F238E27FC236}">
                <a16:creationId xmlns:a16="http://schemas.microsoft.com/office/drawing/2014/main" id="{2375181D-E671-46C3-A52B-FC883B72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76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5项产品</a:t>
            </a:r>
          </a:p>
        </p:txBody>
      </p:sp>
      <p:sp>
        <p:nvSpPr>
          <p:cNvPr id="20" name="graphic-94">
            <a:extLst xmlns:a="http://schemas.openxmlformats.org/drawingml/2006/main">
              <a:ext uri="{FF2B5EF4-FFF2-40B4-BE49-F238E27FC236}">
                <a16:creationId xmlns:a16="http://schemas.microsoft.com/office/drawing/2014/main" id="{0D7DBD0E-34C0-43D3-A7D9-F0ABB17E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ild-4-95">
            <a:extLst xmlns:a="http://schemas.openxmlformats.org/drawingml/2006/main">
              <a:ext uri="{FF2B5EF4-FFF2-40B4-BE49-F238E27FC236}">
                <a16:creationId xmlns:a16="http://schemas.microsoft.com/office/drawing/2014/main" id="{CA57F97E-CC08-4848-A28A-9332E5F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build-4-96">
            <a:extLst xmlns:a="http://schemas.openxmlformats.org/drawingml/2006/main">
              <a:ext uri="{FF2B5EF4-FFF2-40B4-BE49-F238E27FC236}">
                <a16:creationId xmlns:a16="http://schemas.microsoft.com/office/drawing/2014/main" id="{120A3EA9-70EE-4C53-83AF-A2421D60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005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财税数字化</a:t>
            </a:r>
          </a:p>
        </p:txBody>
      </p:sp>
      <p:sp>
        <p:nvSpPr>
          <p:cNvPr id="23" name="build-4-97">
            <a:extLst xmlns:a="http://schemas.openxmlformats.org/drawingml/2006/main">
              <a:ext uri="{FF2B5EF4-FFF2-40B4-BE49-F238E27FC236}">
                <a16:creationId xmlns:a16="http://schemas.microsoft.com/office/drawing/2014/main" id="{DAD1637B-D01D-417C-B009-19FCF9B2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76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3项产品</a:t>
            </a:r>
          </a:p>
        </p:txBody>
      </p:sp>
    </p:spTree>
    <p:extLst>
      <p:ext uri="{BB962C8B-B14F-4D97-AF65-F5344CB8AC3E}">
        <p14:creationId xmlns:p14="http://schemas.microsoft.com/office/powerpoint/2010/main" val="986822672"/>
      </p:ext>
    </p:extLst>
  </p:cSld>
  <p:transition spd="slow" advClick="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build="allAtOnce"/>
      <p:bldP spid="10" grpId="1" build="allAtOnce"/>
      <p:bldP spid="11" grpId="1" build="allAtOnce"/>
      <p:bldP spid="13" grpId="2" build="allAtOnce"/>
      <p:bldP spid="14" grpId="2" build="allAtOnce"/>
      <p:bldP spid="15" grpId="2" build="allAtOnce"/>
      <p:bldP spid="17" grpId="3" build="allAtOnce"/>
      <p:bldP spid="18" grpId="3" build="allAtOnce"/>
      <p:bldP spid="19" grpId="3" build="allAtOnce"/>
      <p:bldP spid="21" grpId="4" build="allAtOnce"/>
      <p:bldP spid="22" grpId="4" build="allAtOnce"/>
      <p:bldP spid="23" grpId="4" build="allAtOnce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98">
            <a:extLst xmlns:a="http://schemas.openxmlformats.org/drawingml/2006/main">
              <a:ext uri="{FF2B5EF4-FFF2-40B4-BE49-F238E27FC236}">
                <a16:creationId xmlns:a16="http://schemas.microsoft.com/office/drawing/2014/main" id="{1FCB984D-EA40-4D77-A8E2-BBF9168E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99">
            <a:extLst xmlns:a="http://schemas.openxmlformats.org/drawingml/2006/main">
              <a:ext uri="{FF2B5EF4-FFF2-40B4-BE49-F238E27FC236}">
                <a16:creationId xmlns:a16="http://schemas.microsoft.com/office/drawing/2014/main" id="{710F4444-B155-4A88-A639-EE9A0829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  <p:sp>
        <p:nvSpPr>
          <p:cNvPr id="3" name="graphic-100">
            <a:extLst xmlns:a="http://schemas.openxmlformats.org/drawingml/2006/main">
              <a:ext uri="{FF2B5EF4-FFF2-40B4-BE49-F238E27FC236}">
                <a16:creationId xmlns:a16="http://schemas.microsoft.com/office/drawing/2014/main" id="{32353059-AB27-4A63-A333-504A6C2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101">
            <a:extLst xmlns:a="http://schemas.openxmlformats.org/drawingml/2006/main">
              <a:ext uri="{FF2B5EF4-FFF2-40B4-BE49-F238E27FC236}">
                <a16:creationId xmlns:a16="http://schemas.microsoft.com/office/drawing/2014/main" id="{B85F5057-B232-420C-A964-12227837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102">
            <a:extLst xmlns:a="http://schemas.openxmlformats.org/drawingml/2006/main">
              <a:ext uri="{FF2B5EF4-FFF2-40B4-BE49-F238E27FC236}">
                <a16:creationId xmlns:a16="http://schemas.microsoft.com/office/drawing/2014/main" id="{608A10C9-807D-4E8E-A311-665074F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103">
            <a:extLst xmlns:a="http://schemas.openxmlformats.org/drawingml/2006/main">
              <a:ext uri="{FF2B5EF4-FFF2-40B4-BE49-F238E27FC236}">
                <a16:creationId xmlns:a16="http://schemas.microsoft.com/office/drawing/2014/main" id="{11FD93C5-4B15-4711-8FDA-A87D0F81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7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itle-104">
            <a:extLst xmlns:a="http://schemas.openxmlformats.org/drawingml/2006/main">
              <a:ext uri="{FF2B5EF4-FFF2-40B4-BE49-F238E27FC236}">
                <a16:creationId xmlns:a16="http://schemas.microsoft.com/office/drawing/2014/main" id="{F3AE8128-C7D9-41FF-8C45-0918ACF6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76350"/>
            <a:ext cx="9382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会计核算与纳税申报</a:t>
            </a:r>
          </a:p>
        </p:txBody>
      </p:sp>
      <p:sp>
        <p:nvSpPr>
          <p:cNvPr id="8" name="copy-105">
            <a:extLst xmlns:a="http://schemas.openxmlformats.org/drawingml/2006/main">
              <a:ext uri="{FF2B5EF4-FFF2-40B4-BE49-F238E27FC236}">
                <a16:creationId xmlns:a16="http://schemas.microsoft.com/office/drawing/2014/main" id="{FD43B096-5C4A-449C-9435-F90EFF0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9277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面向初创及成长期客户，提供基础性、常态化财税服务。</a:t>
            </a:r>
          </a:p>
        </p:txBody>
      </p:sp>
      <p:sp>
        <p:nvSpPr>
          <p:cNvPr id="9" name="graphic-106">
            <a:extLst xmlns:a="http://schemas.openxmlformats.org/drawingml/2006/main">
              <a:ext uri="{FF2B5EF4-FFF2-40B4-BE49-F238E27FC236}">
                <a16:creationId xmlns:a16="http://schemas.microsoft.com/office/drawing/2014/main" id="{02E60D0E-3E33-4FC2-869E-ED9815AD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289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ild-1-107">
            <a:extLst xmlns:a="http://schemas.openxmlformats.org/drawingml/2006/main">
              <a:ext uri="{FF2B5EF4-FFF2-40B4-BE49-F238E27FC236}">
                <a16:creationId xmlns:a16="http://schemas.microsoft.com/office/drawing/2014/main" id="{C3C7D5D6-4A8C-487A-BAA8-8DD7FFA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build-1-108">
            <a:extLst xmlns:a="http://schemas.openxmlformats.org/drawingml/2006/main">
              <a:ext uri="{FF2B5EF4-FFF2-40B4-BE49-F238E27FC236}">
                <a16:creationId xmlns:a16="http://schemas.microsoft.com/office/drawing/2014/main" id="{E0A9D896-3BCC-485A-8558-3611C33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代理记账</a:t>
            </a:r>
          </a:p>
        </p:txBody>
      </p:sp>
      <p:sp>
        <p:nvSpPr>
          <p:cNvPr id="12" name="build-1-109">
            <a:extLst xmlns:a="http://schemas.openxmlformats.org/drawingml/2006/main">
              <a:ext uri="{FF2B5EF4-FFF2-40B4-BE49-F238E27FC236}">
                <a16:creationId xmlns:a16="http://schemas.microsoft.com/office/drawing/2014/main" id="{69A1E5C3-9C22-4A6E-BFF9-BA8DE06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527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月度建账、凭证编制、财务报表与日常账务咨询</a:t>
            </a:r>
          </a:p>
        </p:txBody>
      </p:sp>
      <p:sp>
        <p:nvSpPr>
          <p:cNvPr id="13" name="graphic-110">
            <a:extLst xmlns:a="http://schemas.openxmlformats.org/drawingml/2006/main">
              <a:ext uri="{FF2B5EF4-FFF2-40B4-BE49-F238E27FC236}">
                <a16:creationId xmlns:a16="http://schemas.microsoft.com/office/drawing/2014/main" id="{E599ED31-5F01-4475-8421-AC4176F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2-111">
            <a:extLst xmlns:a="http://schemas.openxmlformats.org/drawingml/2006/main">
              <a:ext uri="{FF2B5EF4-FFF2-40B4-BE49-F238E27FC236}">
                <a16:creationId xmlns:a16="http://schemas.microsoft.com/office/drawing/2014/main" id="{BB8E6E3B-4DB7-481C-9327-B8CF77FC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build-2-112">
            <a:extLst xmlns:a="http://schemas.openxmlformats.org/drawingml/2006/main">
              <a:ext uri="{FF2B5EF4-FFF2-40B4-BE49-F238E27FC236}">
                <a16:creationId xmlns:a16="http://schemas.microsoft.com/office/drawing/2014/main" id="{34C22E06-D430-49C2-B394-69FE94EC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480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纳税申报</a:t>
            </a:r>
          </a:p>
        </p:txBody>
      </p:sp>
      <p:sp>
        <p:nvSpPr>
          <p:cNvPr id="16" name="build-2-113">
            <a:extLst xmlns:a="http://schemas.openxmlformats.org/drawingml/2006/main">
              <a:ext uri="{FF2B5EF4-FFF2-40B4-BE49-F238E27FC236}">
                <a16:creationId xmlns:a16="http://schemas.microsoft.com/office/drawing/2014/main" id="{EC2F36C5-49A6-4D28-95A9-59CB928F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64807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按期完成各税种申报，提供申报资料与口径辅导</a:t>
            </a:r>
          </a:p>
        </p:txBody>
      </p:sp>
      <p:sp>
        <p:nvSpPr>
          <p:cNvPr id="17" name="graphic-114">
            <a:extLst xmlns:a="http://schemas.openxmlformats.org/drawingml/2006/main">
              <a:ext uri="{FF2B5EF4-FFF2-40B4-BE49-F238E27FC236}">
                <a16:creationId xmlns:a16="http://schemas.microsoft.com/office/drawing/2014/main" id="{8A6189BC-8920-4D2F-828D-5AE3A2A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957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ild-3-115">
            <a:extLst xmlns:a="http://schemas.openxmlformats.org/drawingml/2006/main">
              <a:ext uri="{FF2B5EF4-FFF2-40B4-BE49-F238E27FC236}">
                <a16:creationId xmlns:a16="http://schemas.microsoft.com/office/drawing/2014/main" id="{13C3D36F-7480-4EA4-938D-3F03D6F7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build-3-116">
            <a:extLst xmlns:a="http://schemas.openxmlformats.org/drawingml/2006/main">
              <a:ext uri="{FF2B5EF4-FFF2-40B4-BE49-F238E27FC236}">
                <a16:creationId xmlns:a16="http://schemas.microsoft.com/office/drawing/2014/main" id="{A6A65A49-B5AF-4654-8CDE-6BDEFCD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4340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发票与票证管理</a:t>
            </a:r>
          </a:p>
        </p:txBody>
      </p:sp>
      <p:sp>
        <p:nvSpPr>
          <p:cNvPr id="20" name="build-3-117">
            <a:extLst xmlns:a="http://schemas.openxmlformats.org/drawingml/2006/main">
              <a:ext uri="{FF2B5EF4-FFF2-40B4-BE49-F238E27FC236}">
                <a16:creationId xmlns:a16="http://schemas.microsoft.com/office/drawing/2014/main" id="{883F1600-1DD1-4032-AEA8-3F94FBA4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发票开具、勾选认证、全电发票流程与票证合规检查</a:t>
            </a:r>
          </a:p>
        </p:txBody>
      </p:sp>
      <p:sp>
        <p:nvSpPr>
          <p:cNvPr id="21" name="graphic-118">
            <a:extLst xmlns:a="http://schemas.openxmlformats.org/drawingml/2006/main">
              <a:ext uri="{FF2B5EF4-FFF2-40B4-BE49-F238E27FC236}">
                <a16:creationId xmlns:a16="http://schemas.microsoft.com/office/drawing/2014/main" id="{22D08FB7-3029-4BA9-871F-AA4B60E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ild-4-119">
            <a:extLst xmlns:a="http://schemas.openxmlformats.org/drawingml/2006/main">
              <a:ext uri="{FF2B5EF4-FFF2-40B4-BE49-F238E27FC236}">
                <a16:creationId xmlns:a16="http://schemas.microsoft.com/office/drawing/2014/main" id="{69F2FDF1-9682-4096-A9CD-25B9DD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build-4-120">
            <a:extLst xmlns:a="http://schemas.openxmlformats.org/drawingml/2006/main">
              <a:ext uri="{FF2B5EF4-FFF2-40B4-BE49-F238E27FC236}">
                <a16:creationId xmlns:a16="http://schemas.microsoft.com/office/drawing/2014/main" id="{1EAACC33-675D-4511-AF1C-F74B64F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3872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工商登记与变更协办</a:t>
            </a:r>
          </a:p>
        </p:txBody>
      </p:sp>
      <p:sp>
        <p:nvSpPr>
          <p:cNvPr id="24" name="build-4-121">
            <a:extLst xmlns:a="http://schemas.openxmlformats.org/drawingml/2006/main">
              <a:ext uri="{FF2B5EF4-FFF2-40B4-BE49-F238E27FC236}">
                <a16:creationId xmlns:a16="http://schemas.microsoft.com/office/drawing/2014/main" id="{213D50E9-8B04-42C2-ADCC-5F869B3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387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公司注册、变更登记、年报公示协办（配套业务）</a:t>
            </a:r>
          </a:p>
        </p:txBody>
      </p:sp>
      <p:sp>
        <p:nvSpPr>
          <p:cNvPr id="25" name="graphic-122">
            <a:extLst xmlns:a="http://schemas.openxmlformats.org/drawingml/2006/main">
              <a:ext uri="{FF2B5EF4-FFF2-40B4-BE49-F238E27FC236}">
                <a16:creationId xmlns:a16="http://schemas.microsoft.com/office/drawing/2014/main" id="{F3FEDDE3-75BC-4445-987E-A7E7467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02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ild-5-123">
            <a:extLst xmlns:a="http://schemas.openxmlformats.org/drawingml/2006/main">
              <a:ext uri="{FF2B5EF4-FFF2-40B4-BE49-F238E27FC236}">
                <a16:creationId xmlns:a16="http://schemas.microsoft.com/office/drawing/2014/main" id="{5DF027CC-18FF-4193-B8EF-53DB2D53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build-5-124">
            <a:extLst xmlns:a="http://schemas.openxmlformats.org/drawingml/2006/main">
              <a:ext uri="{FF2B5EF4-FFF2-40B4-BE49-F238E27FC236}">
                <a16:creationId xmlns:a16="http://schemas.microsoft.com/office/drawing/2014/main" id="{6817AD89-6600-4E7C-91BF-E8862F29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初创企业财税辅导</a:t>
            </a:r>
          </a:p>
        </p:txBody>
      </p:sp>
      <p:sp>
        <p:nvSpPr>
          <p:cNvPr id="28" name="build-5-125">
            <a:extLst xmlns:a="http://schemas.openxmlformats.org/drawingml/2006/main">
              <a:ext uri="{FF2B5EF4-FFF2-40B4-BE49-F238E27FC236}">
                <a16:creationId xmlns:a16="http://schemas.microsoft.com/office/drawing/2014/main" id="{660D4F8A-F85F-4D3E-AF43-B46AB8A6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7340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税种核定、银行与开票设置、建账及开办期辅导</a:t>
            </a:r>
          </a:p>
        </p:txBody>
      </p:sp>
    </p:spTree>
    <p:extLst>
      <p:ext uri="{BB962C8B-B14F-4D97-AF65-F5344CB8AC3E}">
        <p14:creationId xmlns:p14="http://schemas.microsoft.com/office/powerpoint/2010/main" val="1896057162"/>
      </p:ext>
    </p:extLst>
  </p:cSld>
  <p:transition spd="slow" advClick="1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build="allAtOnce"/>
      <p:bldP spid="11" grpId="1" build="allAtOnce"/>
      <p:bldP spid="12" grpId="1" build="allAtOnce"/>
      <p:bldP spid="14" grpId="2" build="allAtOnce"/>
      <p:bldP spid="15" grpId="2" build="allAtOnce"/>
      <p:bldP spid="16" grpId="2" build="allAtOnce"/>
      <p:bldP spid="18" grpId="3" build="allAtOnce"/>
      <p:bldP spid="19" grpId="3" build="allAtOnce"/>
      <p:bldP spid="20" grpId="3" build="allAtOnce"/>
      <p:bldP spid="22" grpId="4" build="allAtOnce"/>
      <p:bldP spid="23" grpId="4" build="allAtOnce"/>
      <p:bldP spid="24" grpId="4" build="allAtOnce"/>
      <p:bldP spid="26" grpId="5" build="allAtOnce"/>
      <p:bldP spid="27" grpId="5" build="allAtOnce"/>
      <p:bldP spid="28" grpId="5" build="allAtOnce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126">
            <a:extLst xmlns:a="http://schemas.openxmlformats.org/drawingml/2006/main">
              <a:ext uri="{FF2B5EF4-FFF2-40B4-BE49-F238E27FC236}">
                <a16:creationId xmlns:a16="http://schemas.microsoft.com/office/drawing/2014/main" id="{D0E04B49-1569-47D1-9E28-0237625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127">
            <a:extLst xmlns:a="http://schemas.openxmlformats.org/drawingml/2006/main">
              <a:ext uri="{FF2B5EF4-FFF2-40B4-BE49-F238E27FC236}">
                <a16:creationId xmlns:a16="http://schemas.microsoft.com/office/drawing/2014/main" id="{9B7BA173-F1F1-4F6F-9FAD-956E1157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  <p:sp>
        <p:nvSpPr>
          <p:cNvPr id="3" name="graphic-128">
            <a:extLst xmlns:a="http://schemas.openxmlformats.org/drawingml/2006/main">
              <a:ext uri="{FF2B5EF4-FFF2-40B4-BE49-F238E27FC236}">
                <a16:creationId xmlns:a16="http://schemas.microsoft.com/office/drawing/2014/main" id="{DB923FBA-453F-487E-91E8-6FEE8315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129">
            <a:extLst xmlns:a="http://schemas.openxmlformats.org/drawingml/2006/main">
              <a:ext uri="{FF2B5EF4-FFF2-40B4-BE49-F238E27FC236}">
                <a16:creationId xmlns:a16="http://schemas.microsoft.com/office/drawing/2014/main" id="{20B20C43-424F-47C1-88EF-557DFDC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130">
            <a:extLst xmlns:a="http://schemas.openxmlformats.org/drawingml/2006/main">
              <a:ext uri="{FF2B5EF4-FFF2-40B4-BE49-F238E27FC236}">
                <a16:creationId xmlns:a16="http://schemas.microsoft.com/office/drawing/2014/main" id="{04B423B0-7615-4176-AA6A-88D7A13A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131">
            <a:extLst xmlns:a="http://schemas.openxmlformats.org/drawingml/2006/main">
              <a:ext uri="{FF2B5EF4-FFF2-40B4-BE49-F238E27FC236}">
                <a16:creationId xmlns:a16="http://schemas.microsoft.com/office/drawing/2014/main" id="{74691609-9A60-4562-83BD-F7F3BF9E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7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itle-132">
            <a:extLst xmlns:a="http://schemas.openxmlformats.org/drawingml/2006/main">
              <a:ext uri="{FF2B5EF4-FFF2-40B4-BE49-F238E27FC236}">
                <a16:creationId xmlns:a16="http://schemas.microsoft.com/office/drawing/2014/main" id="{8FC6FCB5-3EC9-4166-93D2-13F6FA98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76350"/>
            <a:ext cx="9382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税务咨询与合规</a:t>
            </a:r>
          </a:p>
        </p:txBody>
      </p:sp>
      <p:sp>
        <p:nvSpPr>
          <p:cNvPr id="8" name="copy-133">
            <a:extLst xmlns:a="http://schemas.openxmlformats.org/drawingml/2006/main">
              <a:ext uri="{FF2B5EF4-FFF2-40B4-BE49-F238E27FC236}">
                <a16:creationId xmlns:a16="http://schemas.microsoft.com/office/drawing/2014/main" id="{289299A9-4F3C-44D4-95BC-0001E485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9277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围绕专项税务问题与年度合规事项，提供咨询、复核与专业意见。</a:t>
            </a:r>
          </a:p>
        </p:txBody>
      </p:sp>
      <p:sp>
        <p:nvSpPr>
          <p:cNvPr id="9" name="graphic-134">
            <a:extLst xmlns:a="http://schemas.openxmlformats.org/drawingml/2006/main">
              <a:ext uri="{FF2B5EF4-FFF2-40B4-BE49-F238E27FC236}">
                <a16:creationId xmlns:a16="http://schemas.microsoft.com/office/drawing/2014/main" id="{AF457324-7FB9-4272-90C3-BE9320DB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289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ild-1-135">
            <a:extLst xmlns:a="http://schemas.openxmlformats.org/drawingml/2006/main">
              <a:ext uri="{FF2B5EF4-FFF2-40B4-BE49-F238E27FC236}">
                <a16:creationId xmlns:a16="http://schemas.microsoft.com/office/drawing/2014/main" id="{0E7801BF-3074-492F-B87E-611167E9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build-1-136">
            <a:extLst xmlns:a="http://schemas.openxmlformats.org/drawingml/2006/main">
              <a:ext uri="{FF2B5EF4-FFF2-40B4-BE49-F238E27FC236}">
                <a16:creationId xmlns:a16="http://schemas.microsoft.com/office/drawing/2014/main" id="{722B490A-17D1-4D88-931F-72B65A4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常年财税顾问</a:t>
            </a:r>
          </a:p>
        </p:txBody>
      </p:sp>
      <p:sp>
        <p:nvSpPr>
          <p:cNvPr id="12" name="build-1-137">
            <a:extLst xmlns:a="http://schemas.openxmlformats.org/drawingml/2006/main">
              <a:ext uri="{FF2B5EF4-FFF2-40B4-BE49-F238E27FC236}">
                <a16:creationId xmlns:a16="http://schemas.microsoft.com/office/drawing/2014/main" id="{D500B3D0-DC81-4328-8AE1-D91542F5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527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专属顾问、政策答疑、合同涉税条款与重大事项咨询</a:t>
            </a:r>
          </a:p>
        </p:txBody>
      </p:sp>
      <p:sp>
        <p:nvSpPr>
          <p:cNvPr id="13" name="graphic-138">
            <a:extLst xmlns:a="http://schemas.openxmlformats.org/drawingml/2006/main">
              <a:ext uri="{FF2B5EF4-FFF2-40B4-BE49-F238E27FC236}">
                <a16:creationId xmlns:a16="http://schemas.microsoft.com/office/drawing/2014/main" id="{F797C0F9-3A52-4BAE-8713-2790C8F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2-139">
            <a:extLst xmlns:a="http://schemas.openxmlformats.org/drawingml/2006/main">
              <a:ext uri="{FF2B5EF4-FFF2-40B4-BE49-F238E27FC236}">
                <a16:creationId xmlns:a16="http://schemas.microsoft.com/office/drawing/2014/main" id="{DC7F14F1-FF41-443B-96FA-9C63DB81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build-2-140">
            <a:extLst xmlns:a="http://schemas.openxmlformats.org/drawingml/2006/main">
              <a:ext uri="{FF2B5EF4-FFF2-40B4-BE49-F238E27FC236}">
                <a16:creationId xmlns:a16="http://schemas.microsoft.com/office/drawing/2014/main" id="{3074F900-01F4-4EB8-B520-70B41E0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480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税务健康检查</a:t>
            </a:r>
          </a:p>
        </p:txBody>
      </p:sp>
      <p:sp>
        <p:nvSpPr>
          <p:cNvPr id="16" name="build-2-141">
            <a:extLst xmlns:a="http://schemas.openxmlformats.org/drawingml/2006/main">
              <a:ext uri="{FF2B5EF4-FFF2-40B4-BE49-F238E27FC236}">
                <a16:creationId xmlns:a16="http://schemas.microsoft.com/office/drawing/2014/main" id="{634C25BF-8E23-4D2A-B906-6FA129C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64807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旧账清理、申报自查、风险排查与整改建议</a:t>
            </a:r>
          </a:p>
        </p:txBody>
      </p:sp>
      <p:sp>
        <p:nvSpPr>
          <p:cNvPr id="17" name="graphic-142">
            <a:extLst xmlns:a="http://schemas.openxmlformats.org/drawingml/2006/main">
              <a:ext uri="{FF2B5EF4-FFF2-40B4-BE49-F238E27FC236}">
                <a16:creationId xmlns:a16="http://schemas.microsoft.com/office/drawing/2014/main" id="{39903A2B-F2AA-41A9-BB18-7A16D494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957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ild-3-143">
            <a:extLst xmlns:a="http://schemas.openxmlformats.org/drawingml/2006/main">
              <a:ext uri="{FF2B5EF4-FFF2-40B4-BE49-F238E27FC236}">
                <a16:creationId xmlns:a16="http://schemas.microsoft.com/office/drawing/2014/main" id="{B8A9AE0A-9309-42FE-9D3A-EA3B9E5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build-3-144">
            <a:extLst xmlns:a="http://schemas.openxmlformats.org/drawingml/2006/main">
              <a:ext uri="{FF2B5EF4-FFF2-40B4-BE49-F238E27FC236}">
                <a16:creationId xmlns:a16="http://schemas.microsoft.com/office/drawing/2014/main" id="{AAD5C2EF-755E-4B35-BF6C-3E6395A3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4340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税务合规筹划</a:t>
            </a:r>
          </a:p>
        </p:txBody>
      </p:sp>
      <p:sp>
        <p:nvSpPr>
          <p:cNvPr id="20" name="build-3-145">
            <a:extLst xmlns:a="http://schemas.openxmlformats.org/drawingml/2006/main">
              <a:ext uri="{FF2B5EF4-FFF2-40B4-BE49-F238E27FC236}">
                <a16:creationId xmlns:a16="http://schemas.microsoft.com/office/drawing/2014/main" id="{BE7C5C4F-FABD-4662-A0E2-2595E810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依法合规梳理组织形式、业务模式与优惠适用安排</a:t>
            </a:r>
          </a:p>
        </p:txBody>
      </p:sp>
      <p:sp>
        <p:nvSpPr>
          <p:cNvPr id="21" name="graphic-146">
            <a:extLst xmlns:a="http://schemas.openxmlformats.org/drawingml/2006/main">
              <a:ext uri="{FF2B5EF4-FFF2-40B4-BE49-F238E27FC236}">
                <a16:creationId xmlns:a16="http://schemas.microsoft.com/office/drawing/2014/main" id="{C938240D-E7B6-4C27-A8A6-BDBDB0CA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ild-4-147">
            <a:extLst xmlns:a="http://schemas.openxmlformats.org/drawingml/2006/main">
              <a:ext uri="{FF2B5EF4-FFF2-40B4-BE49-F238E27FC236}">
                <a16:creationId xmlns:a16="http://schemas.microsoft.com/office/drawing/2014/main" id="{FD2E68F3-EEA1-43BF-8DFC-FF31FBA4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build-4-148">
            <a:extLst xmlns:a="http://schemas.openxmlformats.org/drawingml/2006/main">
              <a:ext uri="{FF2B5EF4-FFF2-40B4-BE49-F238E27FC236}">
                <a16:creationId xmlns:a16="http://schemas.microsoft.com/office/drawing/2014/main" id="{F76ED3FB-61E6-4449-B5EB-C3DED9D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3872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企业所得税汇算清缴咨询</a:t>
            </a:r>
          </a:p>
        </p:txBody>
      </p:sp>
      <p:sp>
        <p:nvSpPr>
          <p:cNvPr id="24" name="build-4-149">
            <a:extLst xmlns:a="http://schemas.openxmlformats.org/drawingml/2006/main">
              <a:ext uri="{FF2B5EF4-FFF2-40B4-BE49-F238E27FC236}">
                <a16:creationId xmlns:a16="http://schemas.microsoft.com/office/drawing/2014/main" id="{800B2694-EF5C-475B-90E5-3ADE10A3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387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纳税调整、资产处理、优惠适用及风险自查。1至5月为旺季</a:t>
            </a:r>
          </a:p>
        </p:txBody>
      </p:sp>
      <p:sp>
        <p:nvSpPr>
          <p:cNvPr id="25" name="graphic-150">
            <a:extLst xmlns:a="http://schemas.openxmlformats.org/drawingml/2006/main">
              <a:ext uri="{FF2B5EF4-FFF2-40B4-BE49-F238E27FC236}">
                <a16:creationId xmlns:a16="http://schemas.microsoft.com/office/drawing/2014/main" id="{51454934-6449-4E5F-85D8-5F7E0C9E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02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ild-5-151">
            <a:extLst xmlns:a="http://schemas.openxmlformats.org/drawingml/2006/main">
              <a:ext uri="{FF2B5EF4-FFF2-40B4-BE49-F238E27FC236}">
                <a16:creationId xmlns:a16="http://schemas.microsoft.com/office/drawing/2014/main" id="{A9B9A532-1E16-4C7E-AA20-7FBDD214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build-5-152">
            <a:extLst xmlns:a="http://schemas.openxmlformats.org/drawingml/2006/main">
              <a:ext uri="{FF2B5EF4-FFF2-40B4-BE49-F238E27FC236}">
                <a16:creationId xmlns:a16="http://schemas.microsoft.com/office/drawing/2014/main" id="{789D1001-9C28-41CD-804C-3F945A4C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税务风险评估与稽查应对</a:t>
            </a:r>
          </a:p>
        </p:txBody>
      </p:sp>
      <p:sp>
        <p:nvSpPr>
          <p:cNvPr id="28" name="build-5-153">
            <a:extLst xmlns:a="http://schemas.openxmlformats.org/drawingml/2006/main">
              <a:ext uri="{FF2B5EF4-FFF2-40B4-BE49-F238E27FC236}">
                <a16:creationId xmlns:a16="http://schemas.microsoft.com/office/drawing/2014/main" id="{52C6DAA8-A4D2-4B82-925E-D2B0AF21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7340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风险预警、约谈协助、专业意见与陈述申辩材料支持</a:t>
            </a:r>
          </a:p>
        </p:txBody>
      </p:sp>
    </p:spTree>
    <p:extLst>
      <p:ext uri="{BB962C8B-B14F-4D97-AF65-F5344CB8AC3E}">
        <p14:creationId xmlns:p14="http://schemas.microsoft.com/office/powerpoint/2010/main" val="1872886344"/>
      </p:ext>
    </p:extLst>
  </p:cSld>
  <p:transition spd="slow" advClick="1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build="allAtOnce"/>
      <p:bldP spid="11" grpId="1" build="allAtOnce"/>
      <p:bldP spid="12" grpId="1" build="allAtOnce"/>
      <p:bldP spid="14" grpId="2" build="allAtOnce"/>
      <p:bldP spid="15" grpId="2" build="allAtOnce"/>
      <p:bldP spid="16" grpId="2" build="allAtOnce"/>
      <p:bldP spid="18" grpId="3" build="allAtOnce"/>
      <p:bldP spid="19" grpId="3" build="allAtOnce"/>
      <p:bldP spid="20" grpId="3" build="allAtOnce"/>
      <p:bldP spid="22" grpId="4" build="allAtOnce"/>
      <p:bldP spid="23" grpId="4" build="allAtOnce"/>
      <p:bldP spid="24" grpId="4" build="allAtOnce"/>
      <p:bldP spid="26" grpId="5" build="allAtOnce"/>
      <p:bldP spid="27" grpId="5" build="allAtOnce"/>
      <p:bldP spid="28" grpId="5" build="allAtOnce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A2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154">
            <a:extLst xmlns:a="http://schemas.openxmlformats.org/drawingml/2006/main">
              <a:ext uri="{FF2B5EF4-FFF2-40B4-BE49-F238E27FC236}">
                <a16:creationId xmlns:a16="http://schemas.microsoft.com/office/drawing/2014/main" id="{869775D9-151B-4ED7-8A04-CB33DBC5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155">
            <a:extLst xmlns:a="http://schemas.openxmlformats.org/drawingml/2006/main">
              <a:ext uri="{FF2B5EF4-FFF2-40B4-BE49-F238E27FC236}">
                <a16:creationId xmlns:a16="http://schemas.microsoft.com/office/drawing/2014/main" id="{CA917495-57CB-4F07-A268-83490CA1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  <p:sp>
        <p:nvSpPr>
          <p:cNvPr id="3" name="graphic-156">
            <a:extLst xmlns:a="http://schemas.openxmlformats.org/drawingml/2006/main">
              <a:ext uri="{FF2B5EF4-FFF2-40B4-BE49-F238E27FC236}">
                <a16:creationId xmlns:a16="http://schemas.microsoft.com/office/drawing/2014/main" id="{54CE638A-8AB8-4161-99DB-58B6ADFE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157">
            <a:extLst xmlns:a="http://schemas.openxmlformats.org/drawingml/2006/main">
              <a:ext uri="{FF2B5EF4-FFF2-40B4-BE49-F238E27FC236}">
                <a16:creationId xmlns:a16="http://schemas.microsoft.com/office/drawing/2014/main" id="{FA9384B9-13D5-4C8E-99C4-CC7B453B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158">
            <a:extLst xmlns:a="http://schemas.openxmlformats.org/drawingml/2006/main">
              <a:ext uri="{FF2B5EF4-FFF2-40B4-BE49-F238E27FC236}">
                <a16:creationId xmlns:a16="http://schemas.microsoft.com/office/drawing/2014/main" id="{DD8C8F3F-FD4F-46E5-AC66-09A4C3E2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159">
            <a:extLst xmlns:a="http://schemas.openxmlformats.org/drawingml/2006/main">
              <a:ext uri="{FF2B5EF4-FFF2-40B4-BE49-F238E27FC236}">
                <a16:creationId xmlns:a16="http://schemas.microsoft.com/office/drawing/2014/main" id="{675E1CB8-B40C-4154-8D5B-1CF046C8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7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tle-160">
            <a:extLst xmlns:a="http://schemas.openxmlformats.org/drawingml/2006/main">
              <a:ext uri="{FF2B5EF4-FFF2-40B4-BE49-F238E27FC236}">
                <a16:creationId xmlns:a16="http://schemas.microsoft.com/office/drawing/2014/main" id="{79354387-0FFD-4957-8942-EA72A564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76350"/>
            <a:ext cx="9382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财务支持与管理咨询</a:t>
            </a:r>
          </a:p>
        </p:txBody>
      </p:sp>
      <p:sp>
        <p:nvSpPr>
          <p:cNvPr id="8" name="copy-161">
            <a:extLst xmlns:a="http://schemas.openxmlformats.org/drawingml/2006/main">
              <a:ext uri="{FF2B5EF4-FFF2-40B4-BE49-F238E27FC236}">
                <a16:creationId xmlns:a16="http://schemas.microsoft.com/office/drawing/2014/main" id="{D1D56B69-5166-4617-95E8-32ACA36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9277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支持成长期企业的财务管理能力建设与非日常专项事项。</a:t>
            </a:r>
          </a:p>
        </p:txBody>
      </p:sp>
      <p:sp>
        <p:nvSpPr>
          <p:cNvPr id="9" name="graphic-162">
            <a:extLst xmlns:a="http://schemas.openxmlformats.org/drawingml/2006/main">
              <a:ext uri="{FF2B5EF4-FFF2-40B4-BE49-F238E27FC236}">
                <a16:creationId xmlns:a16="http://schemas.microsoft.com/office/drawing/2014/main" id="{F878C52E-F89A-4E23-885F-4FAE787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289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ild-1-163">
            <a:extLst xmlns:a="http://schemas.openxmlformats.org/drawingml/2006/main">
              <a:ext uri="{FF2B5EF4-FFF2-40B4-BE49-F238E27FC236}">
                <a16:creationId xmlns:a16="http://schemas.microsoft.com/office/drawing/2014/main" id="{99B679E4-1787-47FE-9452-FF8F10F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build-1-164">
            <a:extLst xmlns:a="http://schemas.openxmlformats.org/drawingml/2006/main">
              <a:ext uri="{FF2B5EF4-FFF2-40B4-BE49-F238E27FC236}">
                <a16:creationId xmlns:a16="http://schemas.microsoft.com/office/drawing/2014/main" id="{F189B960-3C18-431D-BCD1-E843714F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财务外包</a:t>
            </a:r>
          </a:p>
        </p:txBody>
      </p:sp>
      <p:sp>
        <p:nvSpPr>
          <p:cNvPr id="12" name="build-1-165">
            <a:extLst xmlns:a="http://schemas.openxmlformats.org/drawingml/2006/main">
              <a:ext uri="{FF2B5EF4-FFF2-40B4-BE49-F238E27FC236}">
                <a16:creationId xmlns:a16="http://schemas.microsoft.com/office/drawing/2014/main" id="{33F047C2-1359-4746-9B14-F774EB0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527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企业财务托管及阶段性财务负责人支持</a:t>
            </a:r>
          </a:p>
        </p:txBody>
      </p:sp>
      <p:sp>
        <p:nvSpPr>
          <p:cNvPr id="13" name="graphic-166">
            <a:extLst xmlns:a="http://schemas.openxmlformats.org/drawingml/2006/main">
              <a:ext uri="{FF2B5EF4-FFF2-40B4-BE49-F238E27FC236}">
                <a16:creationId xmlns:a16="http://schemas.microsoft.com/office/drawing/2014/main" id="{716BBB87-CAC8-4889-86AA-83A39FA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2-167">
            <a:extLst xmlns:a="http://schemas.openxmlformats.org/drawingml/2006/main">
              <a:ext uri="{FF2B5EF4-FFF2-40B4-BE49-F238E27FC236}">
                <a16:creationId xmlns:a16="http://schemas.microsoft.com/office/drawing/2014/main" id="{C147C06E-18F9-45BA-9A2F-20DE9D4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build-2-168">
            <a:extLst xmlns:a="http://schemas.openxmlformats.org/drawingml/2006/main">
              <a:ext uri="{FF2B5EF4-FFF2-40B4-BE49-F238E27FC236}">
                <a16:creationId xmlns:a16="http://schemas.microsoft.com/office/drawing/2014/main" id="{9E2C81F7-1309-4035-A79E-FF3DEC9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480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管理报表与财务分析</a:t>
            </a:r>
          </a:p>
        </p:txBody>
      </p:sp>
      <p:sp>
        <p:nvSpPr>
          <p:cNvPr id="16" name="build-2-169">
            <a:extLst xmlns:a="http://schemas.openxmlformats.org/drawingml/2006/main">
              <a:ext uri="{FF2B5EF4-FFF2-40B4-BE49-F238E27FC236}">
                <a16:creationId xmlns:a16="http://schemas.microsoft.com/office/drawing/2014/main" id="{E7A0D62C-73E7-4847-9FA2-0927B22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64807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管理报表、经营分析、预算及成本管理基础建设</a:t>
            </a:r>
          </a:p>
        </p:txBody>
      </p:sp>
      <p:sp>
        <p:nvSpPr>
          <p:cNvPr id="17" name="graphic-170">
            <a:extLst xmlns:a="http://schemas.openxmlformats.org/drawingml/2006/main">
              <a:ext uri="{FF2B5EF4-FFF2-40B4-BE49-F238E27FC236}">
                <a16:creationId xmlns:a16="http://schemas.microsoft.com/office/drawing/2014/main" id="{F040FD87-F057-4D8F-AABD-D86A921C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957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ild-3-171">
            <a:extLst xmlns:a="http://schemas.openxmlformats.org/drawingml/2006/main">
              <a:ext uri="{FF2B5EF4-FFF2-40B4-BE49-F238E27FC236}">
                <a16:creationId xmlns:a16="http://schemas.microsoft.com/office/drawing/2014/main" id="{CECD5A26-B638-43C7-AA80-841FB4A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build-3-172">
            <a:extLst xmlns:a="http://schemas.openxmlformats.org/drawingml/2006/main">
              <a:ext uri="{FF2B5EF4-FFF2-40B4-BE49-F238E27FC236}">
                <a16:creationId xmlns:a16="http://schemas.microsoft.com/office/drawing/2014/main" id="{E0463B71-4DE1-454E-834E-3D449CAD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4340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财税培训与公开课</a:t>
            </a:r>
          </a:p>
        </p:txBody>
      </p:sp>
      <p:sp>
        <p:nvSpPr>
          <p:cNvPr id="20" name="build-3-173">
            <a:extLst xmlns:a="http://schemas.openxmlformats.org/drawingml/2006/main">
              <a:ext uri="{FF2B5EF4-FFF2-40B4-BE49-F238E27FC236}">
                <a16:creationId xmlns:a16="http://schemas.microsoft.com/office/drawing/2014/main" id="{A7C641B9-227A-4D09-BDD7-20687016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客户公开课、企业内训与行业专题讲座</a:t>
            </a:r>
          </a:p>
        </p:txBody>
      </p:sp>
      <p:sp>
        <p:nvSpPr>
          <p:cNvPr id="21" name="graphic-174">
            <a:extLst xmlns:a="http://schemas.openxmlformats.org/drawingml/2006/main">
              <a:ext uri="{FF2B5EF4-FFF2-40B4-BE49-F238E27FC236}">
                <a16:creationId xmlns:a16="http://schemas.microsoft.com/office/drawing/2014/main" id="{092692F0-9C78-45B1-8F14-A0635D6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ild-4-175">
            <a:extLst xmlns:a="http://schemas.openxmlformats.org/drawingml/2006/main">
              <a:ext uri="{FF2B5EF4-FFF2-40B4-BE49-F238E27FC236}">
                <a16:creationId xmlns:a16="http://schemas.microsoft.com/office/drawing/2014/main" id="{8FFE70D4-D767-4185-991E-22576B12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build-4-176">
            <a:extLst xmlns:a="http://schemas.openxmlformats.org/drawingml/2006/main">
              <a:ext uri="{FF2B5EF4-FFF2-40B4-BE49-F238E27FC236}">
                <a16:creationId xmlns:a16="http://schemas.microsoft.com/office/drawing/2014/main" id="{40554D9E-FEAD-4948-A677-539EE8CA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3872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专项审核协助</a:t>
            </a:r>
          </a:p>
        </p:txBody>
      </p:sp>
      <p:sp>
        <p:nvSpPr>
          <p:cNvPr id="24" name="build-4-177">
            <a:extLst xmlns:a="http://schemas.openxmlformats.org/drawingml/2006/main">
              <a:ext uri="{FF2B5EF4-FFF2-40B4-BE49-F238E27FC236}">
                <a16:creationId xmlns:a16="http://schemas.microsoft.com/office/drawing/2014/main" id="{9EEA8127-0C1B-46FF-97B9-FD1C31B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387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高新认定、研发加计、注销清算资料审核与鉴证对接</a:t>
            </a:r>
          </a:p>
        </p:txBody>
      </p:sp>
      <p:sp>
        <p:nvSpPr>
          <p:cNvPr id="25" name="graphic-178">
            <a:extLst xmlns:a="http://schemas.openxmlformats.org/drawingml/2006/main">
              <a:ext uri="{FF2B5EF4-FFF2-40B4-BE49-F238E27FC236}">
                <a16:creationId xmlns:a16="http://schemas.microsoft.com/office/drawing/2014/main" id="{F7614E94-430A-467A-805A-CCA00D48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02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ild-5-179">
            <a:extLst xmlns:a="http://schemas.openxmlformats.org/drawingml/2006/main">
              <a:ext uri="{FF2B5EF4-FFF2-40B4-BE49-F238E27FC236}">
                <a16:creationId xmlns:a16="http://schemas.microsoft.com/office/drawing/2014/main" id="{BA55CC56-B533-411A-AC61-FBF9DA0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build-5-180">
            <a:extLst xmlns:a="http://schemas.openxmlformats.org/drawingml/2006/main">
              <a:ext uri="{FF2B5EF4-FFF2-40B4-BE49-F238E27FC236}">
                <a16:creationId xmlns:a16="http://schemas.microsoft.com/office/drawing/2014/main" id="{ECDBA962-E751-4F25-A408-2B2A3C6F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重组与清算咨询</a:t>
            </a:r>
          </a:p>
        </p:txBody>
      </p:sp>
      <p:sp>
        <p:nvSpPr>
          <p:cNvPr id="28" name="build-5-181">
            <a:extLst xmlns:a="http://schemas.openxmlformats.org/drawingml/2006/main">
              <a:ext uri="{FF2B5EF4-FFF2-40B4-BE49-F238E27FC236}">
                <a16:creationId xmlns:a16="http://schemas.microsoft.com/office/drawing/2014/main" id="{32A29F9B-87A9-4D6C-9BDD-A792DDD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73405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重组、股权变更与注销清算的入门级财税咨询</a:t>
            </a:r>
          </a:p>
        </p:txBody>
      </p:sp>
    </p:spTree>
    <p:extLst>
      <p:ext uri="{BB962C8B-B14F-4D97-AF65-F5344CB8AC3E}">
        <p14:creationId xmlns:p14="http://schemas.microsoft.com/office/powerpoint/2010/main" val="1488599691"/>
      </p:ext>
    </p:extLst>
  </p:cSld>
  <p:transition spd="slow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build="allAtOnce"/>
      <p:bldP spid="11" grpId="1" build="allAtOnce"/>
      <p:bldP spid="12" grpId="1" build="allAtOnce"/>
      <p:bldP spid="14" grpId="2" build="allAtOnce"/>
      <p:bldP spid="15" grpId="2" build="allAtOnce"/>
      <p:bldP spid="16" grpId="2" build="allAtOnce"/>
      <p:bldP spid="18" grpId="3" build="allAtOnce"/>
      <p:bldP spid="19" grpId="3" build="allAtOnce"/>
      <p:bldP spid="20" grpId="3" build="allAtOnce"/>
      <p:bldP spid="22" grpId="4" build="allAtOnce"/>
      <p:bldP spid="23" grpId="4" build="allAtOnce"/>
      <p:bldP spid="24" grpId="4" build="allAtOnce"/>
      <p:bldP spid="26" grpId="5" build="allAtOnce"/>
      <p:bldP spid="27" grpId="5" build="allAtOnce"/>
      <p:bldP spid="28" grpId="5" build="allAtOnce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182">
            <a:extLst xmlns:a="http://schemas.openxmlformats.org/drawingml/2006/main">
              <a:ext uri="{FF2B5EF4-FFF2-40B4-BE49-F238E27FC236}">
                <a16:creationId xmlns:a16="http://schemas.microsoft.com/office/drawing/2014/main" id="{E2BCD410-EB16-44DA-9E01-E50E00B2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183">
            <a:extLst xmlns:a="http://schemas.openxmlformats.org/drawingml/2006/main">
              <a:ext uri="{FF2B5EF4-FFF2-40B4-BE49-F238E27FC236}">
                <a16:creationId xmlns:a16="http://schemas.microsoft.com/office/drawing/2014/main" id="{3FB9BE60-6E17-4902-850A-C2B62358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  <p:sp>
        <p:nvSpPr>
          <p:cNvPr id="3" name="graphic-184">
            <a:extLst xmlns:a="http://schemas.openxmlformats.org/drawingml/2006/main">
              <a:ext uri="{FF2B5EF4-FFF2-40B4-BE49-F238E27FC236}">
                <a16:creationId xmlns:a16="http://schemas.microsoft.com/office/drawing/2014/main" id="{4B69E7CF-301A-4F53-829B-80A584A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185">
            <a:extLst xmlns:a="http://schemas.openxmlformats.org/drawingml/2006/main">
              <a:ext uri="{FF2B5EF4-FFF2-40B4-BE49-F238E27FC236}">
                <a16:creationId xmlns:a16="http://schemas.microsoft.com/office/drawing/2014/main" id="{814AE9E3-2F6D-42E0-8940-459F8FFB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186">
            <a:extLst xmlns:a="http://schemas.openxmlformats.org/drawingml/2006/main">
              <a:ext uri="{FF2B5EF4-FFF2-40B4-BE49-F238E27FC236}">
                <a16:creationId xmlns:a16="http://schemas.microsoft.com/office/drawing/2014/main" id="{8366BF22-2BE6-4996-A343-03ECEB8D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187">
            <a:extLst xmlns:a="http://schemas.openxmlformats.org/drawingml/2006/main">
              <a:ext uri="{FF2B5EF4-FFF2-40B4-BE49-F238E27FC236}">
                <a16:creationId xmlns:a16="http://schemas.microsoft.com/office/drawing/2014/main" id="{23E8BCF5-63E5-42E2-AB6E-1873BA9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7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title-188">
            <a:extLst xmlns:a="http://schemas.openxmlformats.org/drawingml/2006/main">
              <a:ext uri="{FF2B5EF4-FFF2-40B4-BE49-F238E27FC236}">
                <a16:creationId xmlns:a16="http://schemas.microsoft.com/office/drawing/2014/main" id="{6D0E731E-B65E-4562-997A-018A738C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76350"/>
            <a:ext cx="9382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财税数字化</a:t>
            </a:r>
          </a:p>
        </p:txBody>
      </p:sp>
      <p:sp>
        <p:nvSpPr>
          <p:cNvPr id="8" name="copy-189">
            <a:extLst xmlns:a="http://schemas.openxmlformats.org/drawingml/2006/main">
              <a:ext uri="{FF2B5EF4-FFF2-40B4-BE49-F238E27FC236}">
                <a16:creationId xmlns:a16="http://schemas.microsoft.com/office/drawing/2014/main" id="{12213FAF-918E-42BF-9684-DB69325A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9277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为企业梳理知识、设计应用场景，支持财税工作数字化。</a:t>
            </a:r>
          </a:p>
        </p:txBody>
      </p:sp>
      <p:sp>
        <p:nvSpPr>
          <p:cNvPr id="9" name="graphic-190">
            <a:extLst xmlns:a="http://schemas.openxmlformats.org/drawingml/2006/main">
              <a:ext uri="{FF2B5EF4-FFF2-40B4-BE49-F238E27FC236}">
                <a16:creationId xmlns:a16="http://schemas.microsoft.com/office/drawing/2014/main" id="{9C70C96E-FA30-4998-877F-5ABAB3F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289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ild-1-191">
            <a:extLst xmlns:a="http://schemas.openxmlformats.org/drawingml/2006/main">
              <a:ext uri="{FF2B5EF4-FFF2-40B4-BE49-F238E27FC236}">
                <a16:creationId xmlns:a16="http://schemas.microsoft.com/office/drawing/2014/main" id="{983771AB-C984-4E33-8541-F628958C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build-1-192">
            <a:extLst xmlns:a="http://schemas.openxmlformats.org/drawingml/2006/main">
              <a:ext uri="{FF2B5EF4-FFF2-40B4-BE49-F238E27FC236}">
                <a16:creationId xmlns:a16="http://schemas.microsoft.com/office/drawing/2014/main" id="{0DB8C9DE-2F52-4593-8A5D-BF3BD02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财税知识库建设与运维</a:t>
            </a:r>
          </a:p>
        </p:txBody>
      </p:sp>
      <p:sp>
        <p:nvSpPr>
          <p:cNvPr id="12" name="build-1-193">
            <a:extLst xmlns:a="http://schemas.openxmlformats.org/drawingml/2006/main">
              <a:ext uri="{FF2B5EF4-FFF2-40B4-BE49-F238E27FC236}">
                <a16:creationId xmlns:a16="http://schemas.microsoft.com/office/drawing/2014/main" id="{9F7013D8-C2E3-45D9-89CA-F2B10BB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52750"/>
            <a:ext cx="547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法规库、问答口径库、案例库的结构化与日常更新</a:t>
            </a:r>
          </a:p>
        </p:txBody>
      </p:sp>
      <p:sp>
        <p:nvSpPr>
          <p:cNvPr id="13" name="graphic-194">
            <a:extLst xmlns:a="http://schemas.openxmlformats.org/drawingml/2006/main">
              <a:ext uri="{FF2B5EF4-FFF2-40B4-BE49-F238E27FC236}">
                <a16:creationId xmlns:a16="http://schemas.microsoft.com/office/drawing/2014/main" id="{83829892-9A50-49FC-B77C-F9E2EF0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338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2-195">
            <a:extLst xmlns:a="http://schemas.openxmlformats.org/drawingml/2006/main">
              <a:ext uri="{FF2B5EF4-FFF2-40B4-BE49-F238E27FC236}">
                <a16:creationId xmlns:a16="http://schemas.microsoft.com/office/drawing/2014/main" id="{0E921360-D2B5-4F3E-8BFA-F999F3A4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build-2-196">
            <a:extLst xmlns:a="http://schemas.openxmlformats.org/drawingml/2006/main">
              <a:ext uri="{FF2B5EF4-FFF2-40B4-BE49-F238E27FC236}">
                <a16:creationId xmlns:a16="http://schemas.microsoft.com/office/drawing/2014/main" id="{B2A0F042-1665-4B93-A196-8F05D01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智能问答助手搭建咨询</a:t>
            </a:r>
          </a:p>
        </p:txBody>
      </p:sp>
      <p:sp>
        <p:nvSpPr>
          <p:cNvPr id="16" name="build-2-197">
            <a:extLst xmlns:a="http://schemas.openxmlformats.org/drawingml/2006/main">
              <a:ext uri="{FF2B5EF4-FFF2-40B4-BE49-F238E27FC236}">
                <a16:creationId xmlns:a16="http://schemas.microsoft.com/office/drawing/2014/main" id="{9E141ECB-733E-4427-8C50-899F2BA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57650"/>
            <a:ext cx="547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基于知识库的问答场景、提示词规则与效果评估</a:t>
            </a:r>
          </a:p>
        </p:txBody>
      </p:sp>
      <p:sp>
        <p:nvSpPr>
          <p:cNvPr id="17" name="graphic-198">
            <a:extLst xmlns:a="http://schemas.openxmlformats.org/drawingml/2006/main">
              <a:ext uri="{FF2B5EF4-FFF2-40B4-BE49-F238E27FC236}">
                <a16:creationId xmlns:a16="http://schemas.microsoft.com/office/drawing/2014/main" id="{A8A596E7-39B9-41A3-BE78-B6E7F0C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387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ild-3-199">
            <a:extLst xmlns:a="http://schemas.openxmlformats.org/drawingml/2006/main">
              <a:ext uri="{FF2B5EF4-FFF2-40B4-BE49-F238E27FC236}">
                <a16:creationId xmlns:a16="http://schemas.microsoft.com/office/drawing/2014/main" id="{FC58CFED-7B7B-4941-B1ED-AA6DD596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build-3-200">
            <a:extLst xmlns:a="http://schemas.openxmlformats.org/drawingml/2006/main">
              <a:ext uri="{FF2B5EF4-FFF2-40B4-BE49-F238E27FC236}">
                <a16:creationId xmlns:a16="http://schemas.microsoft.com/office/drawing/2014/main" id="{45067304-F4CB-4373-8F49-ABBBD31D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办公自动化与工具选型</a:t>
            </a:r>
          </a:p>
        </p:txBody>
      </p:sp>
      <p:sp>
        <p:nvSpPr>
          <p:cNvPr id="20" name="build-3-201">
            <a:extLst xmlns:a="http://schemas.openxmlformats.org/drawingml/2006/main">
              <a:ext uri="{FF2B5EF4-FFF2-40B4-BE49-F238E27FC236}">
                <a16:creationId xmlns:a16="http://schemas.microsoft.com/office/drawing/2014/main" id="{BD4D9633-29EA-4178-9FA2-B3A8958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162550"/>
            <a:ext cx="5476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RPA流程设计、AI工具选型与试用评估（POC）</a:t>
            </a:r>
          </a:p>
        </p:txBody>
      </p:sp>
    </p:spTree>
    <p:extLst>
      <p:ext uri="{BB962C8B-B14F-4D97-AF65-F5344CB8AC3E}">
        <p14:creationId xmlns:p14="http://schemas.microsoft.com/office/powerpoint/2010/main" val="1132061672"/>
      </p:ext>
    </p:extLst>
  </p:cSld>
  <p:transition spd="slow" advClick="1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build="allAtOnce"/>
      <p:bldP spid="11" grpId="1" build="allAtOnce"/>
      <p:bldP spid="12" grpId="1" build="allAtOnce"/>
      <p:bldP spid="14" grpId="2" build="allAtOnce"/>
      <p:bldP spid="15" grpId="2" build="allAtOnce"/>
      <p:bldP spid="16" grpId="2" build="allAtOnce"/>
      <p:bldP spid="18" grpId="3" build="allAtOnce"/>
      <p:bldP spid="19" grpId="3" build="allAtOnce"/>
      <p:bldP spid="20" grpId="3" build="allAtOnce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202">
            <a:extLst xmlns:a="http://schemas.openxmlformats.org/drawingml/2006/main">
              <a:ext uri="{FF2B5EF4-FFF2-40B4-BE49-F238E27FC236}">
                <a16:creationId xmlns:a16="http://schemas.microsoft.com/office/drawing/2014/main" id="{13707C4F-DCB5-4874-A6B3-85EA2D5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203">
            <a:extLst xmlns:a="http://schemas.openxmlformats.org/drawingml/2006/main">
              <a:ext uri="{FF2B5EF4-FFF2-40B4-BE49-F238E27FC236}">
                <a16:creationId xmlns:a16="http://schemas.microsoft.com/office/drawing/2014/main" id="{29772F91-F5CC-4C1E-ACD2-74CFF651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3" name="graphic-204">
            <a:extLst xmlns:a="http://schemas.openxmlformats.org/drawingml/2006/main">
              <a:ext uri="{FF2B5EF4-FFF2-40B4-BE49-F238E27FC236}">
                <a16:creationId xmlns:a16="http://schemas.microsoft.com/office/drawing/2014/main" id="{FF66C102-51C6-4316-8F47-E20E304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205">
            <a:extLst xmlns:a="http://schemas.openxmlformats.org/drawingml/2006/main">
              <a:ext uri="{FF2B5EF4-FFF2-40B4-BE49-F238E27FC236}">
                <a16:creationId xmlns:a16="http://schemas.microsoft.com/office/drawing/2014/main" id="{27354F53-CB27-4E31-BD7B-3C6AD6E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206">
            <a:extLst xmlns:a="http://schemas.openxmlformats.org/drawingml/2006/main">
              <a:ext uri="{FF2B5EF4-FFF2-40B4-BE49-F238E27FC236}">
                <a16:creationId xmlns:a16="http://schemas.microsoft.com/office/drawing/2014/main" id="{802870FC-0D53-450D-845F-0228396A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207">
            <a:extLst xmlns:a="http://schemas.openxmlformats.org/drawingml/2006/main">
              <a:ext uri="{FF2B5EF4-FFF2-40B4-BE49-F238E27FC236}">
                <a16:creationId xmlns:a16="http://schemas.microsoft.com/office/drawing/2014/main" id="{334B1641-46E8-46E5-ADFE-B7247B0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行业与典型关注点</a:t>
            </a:r>
          </a:p>
        </p:txBody>
      </p:sp>
      <p:sp>
        <p:nvSpPr>
          <p:cNvPr id="7" name="graphic-208">
            <a:extLst xmlns:a="http://schemas.openxmlformats.org/drawingml/2006/main">
              <a:ext uri="{FF2B5EF4-FFF2-40B4-BE49-F238E27FC236}">
                <a16:creationId xmlns:a16="http://schemas.microsoft.com/office/drawing/2014/main" id="{A995B584-C844-4E47-9A51-67866FC5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1-209">
            <a:extLst xmlns:a="http://schemas.openxmlformats.org/drawingml/2006/main">
              <a:ext uri="{FF2B5EF4-FFF2-40B4-BE49-F238E27FC236}">
                <a16:creationId xmlns:a16="http://schemas.microsoft.com/office/drawing/2014/main" id="{564F44E5-FF1A-4968-8F6F-AEE9DE1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商贸零售</a:t>
            </a:r>
          </a:p>
        </p:txBody>
      </p:sp>
      <p:sp>
        <p:nvSpPr>
          <p:cNvPr id="9" name="build-1-210">
            <a:extLst xmlns:a="http://schemas.openxmlformats.org/drawingml/2006/main">
              <a:ext uri="{FF2B5EF4-FFF2-40B4-BE49-F238E27FC236}">
                <a16:creationId xmlns:a16="http://schemas.microsoft.com/office/drawing/2014/main" id="{DC35742E-B2A3-4929-9C6D-F28D6F8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进销项发票管理 / 库存成本核算 / 促销与返利税务处理</a:t>
            </a:r>
          </a:p>
        </p:txBody>
      </p:sp>
      <p:sp>
        <p:nvSpPr>
          <p:cNvPr id="10" name="graphic-211">
            <a:extLst xmlns:a="http://schemas.openxmlformats.org/drawingml/2006/main">
              <a:ext uri="{FF2B5EF4-FFF2-40B4-BE49-F238E27FC236}">
                <a16:creationId xmlns:a16="http://schemas.microsoft.com/office/drawing/2014/main" id="{9F4477BC-E8EA-425F-A1A1-5512D115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ild-2-212">
            <a:extLst xmlns:a="http://schemas.openxmlformats.org/drawingml/2006/main">
              <a:ext uri="{FF2B5EF4-FFF2-40B4-BE49-F238E27FC236}">
                <a16:creationId xmlns:a16="http://schemas.microsoft.com/office/drawing/2014/main" id="{08CC0198-D2CA-4ABC-94DF-655A1C4C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餐饮与生活服务</a:t>
            </a:r>
          </a:p>
        </p:txBody>
      </p:sp>
      <p:sp>
        <p:nvSpPr>
          <p:cNvPr id="12" name="build-2-213">
            <a:extLst xmlns:a="http://schemas.openxmlformats.org/drawingml/2006/main">
              <a:ext uri="{FF2B5EF4-FFF2-40B4-BE49-F238E27FC236}">
                <a16:creationId xmlns:a16="http://schemas.microsoft.com/office/drawing/2014/main" id="{6B060DD4-8900-4AD6-8578-20FB76B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业务招待费与广宣费区分 / 临时工薪酬与社保 / 加盟票据合规</a:t>
            </a:r>
          </a:p>
        </p:txBody>
      </p:sp>
      <p:sp>
        <p:nvSpPr>
          <p:cNvPr id="13" name="graphic-214">
            <a:extLst xmlns:a="http://schemas.openxmlformats.org/drawingml/2006/main">
              <a:ext uri="{FF2B5EF4-FFF2-40B4-BE49-F238E27FC236}">
                <a16:creationId xmlns:a16="http://schemas.microsoft.com/office/drawing/2014/main" id="{C4EAD417-7E87-4824-A96C-C0BC496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3-215">
            <a:extLst xmlns:a="http://schemas.openxmlformats.org/drawingml/2006/main">
              <a:ext uri="{FF2B5EF4-FFF2-40B4-BE49-F238E27FC236}">
                <a16:creationId xmlns:a16="http://schemas.microsoft.com/office/drawing/2014/main" id="{F97C4310-0ACC-43F4-8659-E75EFABE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现代服务业</a:t>
            </a:r>
          </a:p>
        </p:txBody>
      </p:sp>
      <p:sp>
        <p:nvSpPr>
          <p:cNvPr id="15" name="build-3-216">
            <a:extLst xmlns:a="http://schemas.openxmlformats.org/drawingml/2006/main">
              <a:ext uri="{FF2B5EF4-FFF2-40B4-BE49-F238E27FC236}">
                <a16:creationId xmlns:a16="http://schemas.microsoft.com/office/drawing/2014/main" id="{D7146128-E859-4481-B3FA-A8C2D94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收入确认时点 / 跨期合同与完工进度 / 人工成本占比高</a:t>
            </a:r>
          </a:p>
        </p:txBody>
      </p:sp>
      <p:sp>
        <p:nvSpPr>
          <p:cNvPr id="16" name="graphic-217">
            <a:extLst xmlns:a="http://schemas.openxmlformats.org/drawingml/2006/main">
              <a:ext uri="{FF2B5EF4-FFF2-40B4-BE49-F238E27FC236}">
                <a16:creationId xmlns:a16="http://schemas.microsoft.com/office/drawing/2014/main" id="{CBD225DA-66E5-43A8-8A1A-749C12F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ild-4-218">
            <a:extLst xmlns:a="http://schemas.openxmlformats.org/drawingml/2006/main">
              <a:ext uri="{FF2B5EF4-FFF2-40B4-BE49-F238E27FC236}">
                <a16:creationId xmlns:a16="http://schemas.microsoft.com/office/drawing/2014/main" id="{73AB37A2-A620-4DA3-B3B5-6796D2CA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软件与信息服务</a:t>
            </a:r>
          </a:p>
        </p:txBody>
      </p:sp>
      <p:sp>
        <p:nvSpPr>
          <p:cNvPr id="18" name="build-4-219">
            <a:extLst xmlns:a="http://schemas.openxmlformats.org/drawingml/2006/main">
              <a:ext uri="{FF2B5EF4-FFF2-40B4-BE49-F238E27FC236}">
                <a16:creationId xmlns:a16="http://schemas.microsoft.com/office/drawing/2014/main" id="{8B76D851-4ED4-495A-A727-EF5765B6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研发费用加计扣除 / 软件产品优惠 / 小型微利政策适用</a:t>
            </a:r>
          </a:p>
        </p:txBody>
      </p:sp>
      <p:sp>
        <p:nvSpPr>
          <p:cNvPr id="19" name="graphic-220">
            <a:extLst xmlns:a="http://schemas.openxmlformats.org/drawingml/2006/main">
              <a:ext uri="{FF2B5EF4-FFF2-40B4-BE49-F238E27FC236}">
                <a16:creationId xmlns:a16="http://schemas.microsoft.com/office/drawing/2014/main" id="{5FBD70F6-0425-4CC8-ADFF-D400FA8B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ild-5-221">
            <a:extLst xmlns:a="http://schemas.openxmlformats.org/drawingml/2006/main">
              <a:ext uri="{FF2B5EF4-FFF2-40B4-BE49-F238E27FC236}">
                <a16:creationId xmlns:a16="http://schemas.microsoft.com/office/drawing/2014/main" id="{BFD5FCA3-9173-468A-A3C2-74D58FC5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文创与传媒</a:t>
            </a:r>
          </a:p>
        </p:txBody>
      </p:sp>
      <p:sp>
        <p:nvSpPr>
          <p:cNvPr id="21" name="build-5-222">
            <a:extLst xmlns:a="http://schemas.openxmlformats.org/drawingml/2006/main">
              <a:ext uri="{FF2B5EF4-FFF2-40B4-BE49-F238E27FC236}">
                <a16:creationId xmlns:a16="http://schemas.microsoft.com/office/drawing/2014/main" id="{1D525963-34A6-45AA-A28A-6DA011BF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劳务报酬与稿酬个税 / 版权收入确认 / 项目制成本归集</a:t>
            </a:r>
          </a:p>
        </p:txBody>
      </p:sp>
      <p:sp>
        <p:nvSpPr>
          <p:cNvPr id="22" name="graphic-223">
            <a:extLst xmlns:a="http://schemas.openxmlformats.org/drawingml/2006/main">
              <a:ext uri="{FF2B5EF4-FFF2-40B4-BE49-F238E27FC236}">
                <a16:creationId xmlns:a16="http://schemas.microsoft.com/office/drawing/2014/main" id="{7C8ADCAF-2906-4911-9ADE-76B393DD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ild-6-224">
            <a:extLst xmlns:a="http://schemas.openxmlformats.org/drawingml/2006/main">
              <a:ext uri="{FF2B5EF4-FFF2-40B4-BE49-F238E27FC236}">
                <a16:creationId xmlns:a16="http://schemas.microsoft.com/office/drawing/2014/main" id="{DC3FAE71-14AE-416B-ACD2-6146C7F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小型制造与加工</a:t>
            </a:r>
          </a:p>
        </p:txBody>
      </p:sp>
      <p:sp>
        <p:nvSpPr>
          <p:cNvPr id="24" name="build-6-225">
            <a:extLst xmlns:a="http://schemas.openxmlformats.org/drawingml/2006/main">
              <a:ext uri="{FF2B5EF4-FFF2-40B4-BE49-F238E27FC236}">
                <a16:creationId xmlns:a16="http://schemas.microsoft.com/office/drawing/2014/main" id="{F6140091-A0B9-4A66-971D-10B595E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固定资产折旧与一次性扣除 / 税会差异 / 搬迁补偿事项</a:t>
            </a:r>
          </a:p>
        </p:txBody>
      </p:sp>
      <p:sp>
        <p:nvSpPr>
          <p:cNvPr id="25" name="graphic-226">
            <a:extLst xmlns:a="http://schemas.openxmlformats.org/drawingml/2006/main">
              <a:ext uri="{FF2B5EF4-FFF2-40B4-BE49-F238E27FC236}">
                <a16:creationId xmlns:a16="http://schemas.microsoft.com/office/drawing/2014/main" id="{746736CE-37FA-4113-BBB5-5473A72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ild-7-227">
            <a:extLst xmlns:a="http://schemas.openxmlformats.org/drawingml/2006/main">
              <a:ext uri="{FF2B5EF4-FFF2-40B4-BE49-F238E27FC236}">
                <a16:creationId xmlns:a16="http://schemas.microsoft.com/office/drawing/2014/main" id="{3A084A47-D3E5-48BE-99CB-EECDF2E5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跨境电商（入门级）</a:t>
            </a:r>
          </a:p>
        </p:txBody>
      </p:sp>
      <p:sp>
        <p:nvSpPr>
          <p:cNvPr id="27" name="build-7-228">
            <a:extLst xmlns:a="http://schemas.openxmlformats.org/drawingml/2006/main">
              <a:ext uri="{FF2B5EF4-FFF2-40B4-BE49-F238E27FC236}">
                <a16:creationId xmlns:a16="http://schemas.microsoft.com/office/drawing/2014/main" id="{9D878616-D01F-4F52-B45D-A9BD6CCD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681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多平台收款数据 / 申报口径一致性 / 出口退免税基础合规</a:t>
            </a:r>
          </a:p>
        </p:txBody>
      </p:sp>
    </p:spTree>
    <p:extLst>
      <p:ext uri="{BB962C8B-B14F-4D97-AF65-F5344CB8AC3E}">
        <p14:creationId xmlns:p14="http://schemas.microsoft.com/office/powerpoint/2010/main" val="1857270762"/>
      </p:ext>
    </p:extLst>
  </p:cSld>
  <p:transition spd="slow" advClick="1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 grpId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 grpId="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9" grpId="1" build="allAtOnce"/>
      <p:bldP spid="11" grpId="2" build="allAtOnce"/>
      <p:bldP spid="12" grpId="2" build="allAtOnce"/>
      <p:bldP spid="14" grpId="3" build="allAtOnce"/>
      <p:bldP spid="15" grpId="3" build="allAtOnce"/>
      <p:bldP spid="17" grpId="4" build="allAtOnce"/>
      <p:bldP spid="18" grpId="4" build="allAtOnce"/>
      <p:bldP spid="20" grpId="5" build="allAtOnce"/>
      <p:bldP spid="21" grpId="5" build="allAtOnce"/>
      <p:bldP spid="23" grpId="6" build="allAtOnce"/>
      <p:bldP spid="24" grpId="6" build="allAtOnce"/>
      <p:bldP spid="26" grpId="7" build="allAtOnce"/>
      <p:bldP spid="27" grpId="7" build="allAtOnce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-229">
            <a:extLst xmlns:a="http://schemas.openxmlformats.org/drawingml/2006/main">
              <a:ext uri="{FF2B5EF4-FFF2-40B4-BE49-F238E27FC236}">
                <a16:creationId xmlns:a16="http://schemas.microsoft.com/office/drawing/2014/main" id="{C69AFC0B-DE6E-4CEB-A3AE-CB1AFDB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230">
            <a:extLst xmlns:a="http://schemas.openxmlformats.org/drawingml/2006/main">
              <a:ext uri="{FF2B5EF4-FFF2-40B4-BE49-F238E27FC236}">
                <a16:creationId xmlns:a16="http://schemas.microsoft.com/office/drawing/2014/main" id="{B72F784E-E621-4EDE-8567-DD168F0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3" name="graphic-231">
            <a:extLst xmlns:a="http://schemas.openxmlformats.org/drawingml/2006/main">
              <a:ext uri="{FF2B5EF4-FFF2-40B4-BE49-F238E27FC236}">
                <a16:creationId xmlns:a16="http://schemas.microsoft.com/office/drawing/2014/main" id="{FCD0EE81-855D-4035-9F07-85973F43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232">
            <a:extLst xmlns:a="http://schemas.openxmlformats.org/drawingml/2006/main">
              <a:ext uri="{FF2B5EF4-FFF2-40B4-BE49-F238E27FC236}">
                <a16:creationId xmlns:a16="http://schemas.microsoft.com/office/drawing/2014/main" id="{715904C4-A9C0-4FB4-ADD0-03D45786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233">
            <a:extLst xmlns:a="http://schemas.openxmlformats.org/drawingml/2006/main">
              <a:ext uri="{FF2B5EF4-FFF2-40B4-BE49-F238E27FC236}">
                <a16:creationId xmlns:a16="http://schemas.microsoft.com/office/drawing/2014/main" id="{542E49A3-C002-4552-8F37-815CC0D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234">
            <a:extLst xmlns:a="http://schemas.openxmlformats.org/drawingml/2006/main">
              <a:ext uri="{FF2B5EF4-FFF2-40B4-BE49-F238E27FC236}">
                <a16:creationId xmlns:a16="http://schemas.microsoft.com/office/drawing/2014/main" id="{0553B61E-0B0E-4B97-9A43-FC2194E2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专家团队</a:t>
            </a:r>
          </a:p>
        </p:txBody>
      </p:sp>
      <p:sp>
        <p:nvSpPr>
          <p:cNvPr id="7" name="copy-235">
            <a:extLst xmlns:a="http://schemas.openxmlformats.org/drawingml/2006/main">
              <a:ext uri="{FF2B5EF4-FFF2-40B4-BE49-F238E27FC236}">
                <a16:creationId xmlns:a16="http://schemas.microsoft.com/office/drawing/2014/main" id="{638C3535-0357-4010-8CF5-1B98672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38人团队 / 注册会计师6人 / 税务师5人</a:t>
            </a:r>
          </a:p>
        </p:txBody>
      </p:sp>
      <p:sp>
        <p:nvSpPr>
          <p:cNvPr id="8" name="graphic-236">
            <a:extLst xmlns:a="http://schemas.openxmlformats.org/drawingml/2006/main">
              <a:ext uri="{FF2B5EF4-FFF2-40B4-BE49-F238E27FC236}">
                <a16:creationId xmlns:a16="http://schemas.microsoft.com/office/drawing/2014/main" id="{E86EF6B7-E7B7-4496-8D0A-21E8236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ild-1-237">
            <a:extLst xmlns:a="http://schemas.openxmlformats.org/drawingml/2006/main">
              <a:ext uri="{FF2B5EF4-FFF2-40B4-BE49-F238E27FC236}">
                <a16:creationId xmlns:a16="http://schemas.microsoft.com/office/drawing/2014/main" id="{2DC6A833-BDA0-4D79-A6E7-33EE1E99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陈守正</a:t>
            </a:r>
          </a:p>
        </p:txBody>
      </p:sp>
      <p:sp>
        <p:nvSpPr>
          <p:cNvPr id="10" name="build-1-238">
            <a:extLst xmlns:a="http://schemas.openxmlformats.org/drawingml/2006/main">
              <a:ext uri="{FF2B5EF4-FFF2-40B4-BE49-F238E27FC236}">
                <a16:creationId xmlns:a16="http://schemas.microsoft.com/office/drawing/2014/main" id="{E8FE1A58-7FAB-4AC0-AE00-38E251B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创始人 / 总经理</a:t>
            </a:r>
          </a:p>
        </p:txBody>
      </p:sp>
      <p:sp>
        <p:nvSpPr>
          <p:cNvPr id="11" name="build-1-239">
            <a:extLst xmlns:a="http://schemas.openxmlformats.org/drawingml/2006/main">
              <a:ext uri="{FF2B5EF4-FFF2-40B4-BE49-F238E27FC236}">
                <a16:creationId xmlns:a16="http://schemas.microsoft.com/office/drawing/2014/main" id="{74E68C9A-1EAE-401E-9797-1F5AD900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7177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注册会计师 / 税务师</a:t>
            </a:r>
          </a:p>
        </p:txBody>
      </p:sp>
      <p:sp>
        <p:nvSpPr>
          <p:cNvPr id="12" name="graphic-240">
            <a:extLst xmlns:a="http://schemas.openxmlformats.org/drawingml/2006/main">
              <a:ext uri="{FF2B5EF4-FFF2-40B4-BE49-F238E27FC236}">
                <a16:creationId xmlns:a16="http://schemas.microsoft.com/office/drawing/2014/main" id="{8E125ECF-3925-4C0A-ACD0-05550FA0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ild-2-241">
            <a:extLst xmlns:a="http://schemas.openxmlformats.org/drawingml/2006/main">
              <a:ext uri="{FF2B5EF4-FFF2-40B4-BE49-F238E27FC236}">
                <a16:creationId xmlns:a16="http://schemas.microsoft.com/office/drawing/2014/main" id="{45F6CE63-337D-4146-843A-33471D1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林知远</a:t>
            </a:r>
          </a:p>
        </p:txBody>
      </p:sp>
      <p:sp>
        <p:nvSpPr>
          <p:cNvPr id="14" name="build-2-242">
            <a:extLst xmlns:a="http://schemas.openxmlformats.org/drawingml/2006/main">
              <a:ext uri="{FF2B5EF4-FFF2-40B4-BE49-F238E27FC236}">
                <a16:creationId xmlns:a16="http://schemas.microsoft.com/office/drawing/2014/main" id="{80A8EF55-0898-46DC-80E2-26DF5A2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副总经理 / 财税业务中心负责人</a:t>
            </a:r>
          </a:p>
        </p:txBody>
      </p:sp>
      <p:sp>
        <p:nvSpPr>
          <p:cNvPr id="15" name="build-2-243">
            <a:extLst xmlns:a="http://schemas.openxmlformats.org/drawingml/2006/main">
              <a:ext uri="{FF2B5EF4-FFF2-40B4-BE49-F238E27FC236}">
                <a16:creationId xmlns:a16="http://schemas.microsoft.com/office/drawing/2014/main" id="{8367EAC6-E319-4959-A867-335C2BE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税务师 / 15年财税实战经验</a:t>
            </a:r>
          </a:p>
        </p:txBody>
      </p:sp>
      <p:sp>
        <p:nvSpPr>
          <p:cNvPr id="16" name="graphic-244">
            <a:extLst xmlns:a="http://schemas.openxmlformats.org/drawingml/2006/main">
              <a:ext uri="{FF2B5EF4-FFF2-40B4-BE49-F238E27FC236}">
                <a16:creationId xmlns:a16="http://schemas.microsoft.com/office/drawing/2014/main" id="{0B7635EF-1739-4BDA-BD30-1C5BEF0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ild-3-245">
            <a:extLst xmlns:a="http://schemas.openxmlformats.org/drawingml/2006/main">
              <a:ext uri="{FF2B5EF4-FFF2-40B4-BE49-F238E27FC236}">
                <a16:creationId xmlns:a16="http://schemas.microsoft.com/office/drawing/2014/main" id="{37D8B159-7818-412A-A371-68023989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苏文清</a:t>
            </a:r>
          </a:p>
        </p:txBody>
      </p:sp>
      <p:sp>
        <p:nvSpPr>
          <p:cNvPr id="18" name="build-3-246">
            <a:extLst xmlns:a="http://schemas.openxmlformats.org/drawingml/2006/main">
              <a:ext uri="{FF2B5EF4-FFF2-40B4-BE49-F238E27FC236}">
                <a16:creationId xmlns:a16="http://schemas.microsoft.com/office/drawing/2014/main" id="{34B4789F-D04E-4B03-A6B4-2B30A28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57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专业支持部经理</a:t>
            </a:r>
          </a:p>
        </p:txBody>
      </p:sp>
      <p:sp>
        <p:nvSpPr>
          <p:cNvPr id="19" name="build-3-247">
            <a:extLst xmlns:a="http://schemas.openxmlformats.org/drawingml/2006/main">
              <a:ext uri="{FF2B5EF4-FFF2-40B4-BE49-F238E27FC236}">
                <a16:creationId xmlns:a16="http://schemas.microsoft.com/office/drawing/2014/main" id="{321412AB-48F8-49C6-A2A1-06CDEBF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注册会计师</a:t>
            </a:r>
          </a:p>
        </p:txBody>
      </p:sp>
      <p:sp>
        <p:nvSpPr>
          <p:cNvPr id="20" name="graphic-248">
            <a:extLst xmlns:a="http://schemas.openxmlformats.org/drawingml/2006/main">
              <a:ext uri="{FF2B5EF4-FFF2-40B4-BE49-F238E27FC236}">
                <a16:creationId xmlns:a16="http://schemas.microsoft.com/office/drawing/2014/main" id="{D340A435-7256-4D83-A527-13908E2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ild-4-249">
            <a:extLst xmlns:a="http://schemas.openxmlformats.org/drawingml/2006/main">
              <a:ext uri="{FF2B5EF4-FFF2-40B4-BE49-F238E27FC236}">
                <a16:creationId xmlns:a16="http://schemas.microsoft.com/office/drawing/2014/main" id="{FF3C5B99-A86A-4292-AE52-5F5CC05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何立行</a:t>
            </a:r>
          </a:p>
        </p:txBody>
      </p:sp>
      <p:sp>
        <p:nvSpPr>
          <p:cNvPr id="22" name="build-4-250">
            <a:extLst xmlns:a="http://schemas.openxmlformats.org/drawingml/2006/main">
              <a:ext uri="{FF2B5EF4-FFF2-40B4-BE49-F238E27FC236}">
                <a16:creationId xmlns:a16="http://schemas.microsoft.com/office/drawing/2014/main" id="{2207A915-3E3F-4F39-BD2A-3700ED27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052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税务服务部经理</a:t>
            </a:r>
          </a:p>
        </p:txBody>
      </p:sp>
      <p:sp>
        <p:nvSpPr>
          <p:cNvPr id="23" name="build-4-251">
            <a:extLst xmlns:a="http://schemas.openxmlformats.org/drawingml/2006/main">
              <a:ext uri="{FF2B5EF4-FFF2-40B4-BE49-F238E27FC236}">
                <a16:creationId xmlns:a16="http://schemas.microsoft.com/office/drawing/2014/main" id="{FBE10EF8-5B04-4A32-A730-BFE367E1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1480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中级会计师</a:t>
            </a:r>
          </a:p>
        </p:txBody>
      </p:sp>
      <p:sp>
        <p:nvSpPr>
          <p:cNvPr id="24" name="graphic-252">
            <a:extLst xmlns:a="http://schemas.openxmlformats.org/drawingml/2006/main">
              <a:ext uri="{FF2B5EF4-FFF2-40B4-BE49-F238E27FC236}">
                <a16:creationId xmlns:a16="http://schemas.microsoft.com/office/drawing/2014/main" id="{73CDEFB1-3768-44A0-B0C7-0A45A1B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ild-5-253">
            <a:extLst xmlns:a="http://schemas.openxmlformats.org/drawingml/2006/main">
              <a:ext uri="{FF2B5EF4-FFF2-40B4-BE49-F238E27FC236}">
                <a16:creationId xmlns:a16="http://schemas.microsoft.com/office/drawing/2014/main" id="{F568B30C-E3E6-4888-87BC-1CA16193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周明瑶</a:t>
            </a:r>
          </a:p>
        </p:txBody>
      </p:sp>
      <p:sp>
        <p:nvSpPr>
          <p:cNvPr id="26" name="build-5-254">
            <a:extLst xmlns:a="http://schemas.openxmlformats.org/drawingml/2006/main">
              <a:ext uri="{FF2B5EF4-FFF2-40B4-BE49-F238E27FC236}">
                <a16:creationId xmlns:a16="http://schemas.microsoft.com/office/drawing/2014/main" id="{5634FE8E-2F8B-4C45-B61A-83D374B4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数字化创新主管</a:t>
            </a:r>
          </a:p>
        </p:txBody>
      </p:sp>
      <p:sp>
        <p:nvSpPr>
          <p:cNvPr id="27" name="build-5-255">
            <a:extLst xmlns:a="http://schemas.openxmlformats.org/drawingml/2006/main">
              <a:ext uri="{FF2B5EF4-FFF2-40B4-BE49-F238E27FC236}">
                <a16:creationId xmlns:a16="http://schemas.microsoft.com/office/drawing/2014/main" id="{39C9D051-1403-4793-8B6C-AB6884AA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6247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信息管理与财税复合背景</a:t>
            </a:r>
          </a:p>
        </p:txBody>
      </p:sp>
      <p:sp>
        <p:nvSpPr>
          <p:cNvPr id="28" name="graphic-256">
            <a:extLst xmlns:a="http://schemas.openxmlformats.org/drawingml/2006/main">
              <a:ext uri="{FF2B5EF4-FFF2-40B4-BE49-F238E27FC236}">
                <a16:creationId xmlns:a16="http://schemas.microsoft.com/office/drawing/2014/main" id="{D6798131-1328-4303-A29B-9716257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uild-6-257">
            <a:extLst xmlns:a="http://schemas.openxmlformats.org/drawingml/2006/main">
              <a:ext uri="{FF2B5EF4-FFF2-40B4-BE49-F238E27FC236}">
                <a16:creationId xmlns:a16="http://schemas.microsoft.com/office/drawing/2014/main" id="{F9E8219F-2852-4C1A-B78A-621AD63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吴念安</a:t>
            </a:r>
          </a:p>
        </p:txBody>
      </p:sp>
      <p:sp>
        <p:nvSpPr>
          <p:cNvPr id="30" name="build-6-258">
            <a:extLst xmlns:a="http://schemas.openxmlformats.org/drawingml/2006/main">
              <a:ext uri="{FF2B5EF4-FFF2-40B4-BE49-F238E27FC236}">
                <a16:creationId xmlns:a16="http://schemas.microsoft.com/office/drawing/2014/main" id="{44D5095B-296E-4A4D-98A5-84AB194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高级税务顾问</a:t>
            </a:r>
          </a:p>
        </p:txBody>
      </p:sp>
      <p:sp>
        <p:nvSpPr>
          <p:cNvPr id="31" name="build-6-259">
            <a:extLst xmlns:a="http://schemas.openxmlformats.org/drawingml/2006/main">
              <a:ext uri="{FF2B5EF4-FFF2-40B4-BE49-F238E27FC236}">
                <a16:creationId xmlns:a16="http://schemas.microsoft.com/office/drawing/2014/main" id="{C531249F-50A6-493E-84F2-FE023E9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税务师</a:t>
            </a:r>
          </a:p>
        </p:txBody>
      </p:sp>
      <p:sp>
        <p:nvSpPr>
          <p:cNvPr id="32" name="graphic-260">
            <a:extLst xmlns:a="http://schemas.openxmlformats.org/drawingml/2006/main">
              <a:ext uri="{FF2B5EF4-FFF2-40B4-BE49-F238E27FC236}">
                <a16:creationId xmlns:a16="http://schemas.microsoft.com/office/drawing/2014/main" id="{0BF3EF2C-B639-4D40-841D-01EB934E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uild-7-261">
            <a:extLst xmlns:a="http://schemas.openxmlformats.org/drawingml/2006/main">
              <a:ext uri="{FF2B5EF4-FFF2-40B4-BE49-F238E27FC236}">
                <a16:creationId xmlns:a16="http://schemas.microsoft.com/office/drawing/2014/main" id="{495B9370-FABE-4E42-AC94-06A1563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赵以恒</a:t>
            </a:r>
          </a:p>
        </p:txBody>
      </p:sp>
      <p:sp>
        <p:nvSpPr>
          <p:cNvPr id="34" name="build-7-262">
            <a:extLst xmlns:a="http://schemas.openxmlformats.org/drawingml/2006/main">
              <a:ext uri="{FF2B5EF4-FFF2-40B4-BE49-F238E27FC236}">
                <a16:creationId xmlns:a16="http://schemas.microsoft.com/office/drawing/2014/main" id="{6178B2FA-4BBE-4638-86D4-D08182E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客户成功主管</a:t>
            </a:r>
          </a:p>
        </p:txBody>
      </p:sp>
      <p:sp>
        <p:nvSpPr>
          <p:cNvPr id="35" name="build-7-263">
            <a:extLst xmlns:a="http://schemas.openxmlformats.org/drawingml/2006/main">
              <a:ext uri="{FF2B5EF4-FFF2-40B4-BE49-F238E27FC236}">
                <a16:creationId xmlns:a16="http://schemas.microsoft.com/office/drawing/2014/main" id="{DBF4B255-38EE-4985-8DF8-09182AD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5782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客户沟通与需求收集</a:t>
            </a:r>
          </a:p>
        </p:txBody>
      </p:sp>
    </p:spTree>
    <p:extLst>
      <p:ext uri="{BB962C8B-B14F-4D97-AF65-F5344CB8AC3E}">
        <p14:creationId xmlns:p14="http://schemas.microsoft.com/office/powerpoint/2010/main" val="472674403"/>
      </p:ext>
    </p:extLst>
  </p:cSld>
  <p:transition spd="slow" advClick="1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 grpId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5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5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 grpId="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build="allAtOnce"/>
      <p:bldP spid="10" grpId="1" build="allAtOnce"/>
      <p:bldP spid="11" grpId="1" build="allAtOnce"/>
      <p:bldP spid="13" grpId="2" build="allAtOnce"/>
      <p:bldP spid="14" grpId="2" build="allAtOnce"/>
      <p:bldP spid="15" grpId="2" build="allAtOnce"/>
      <p:bldP spid="17" grpId="3" build="allAtOnce"/>
      <p:bldP spid="18" grpId="3" build="allAtOnce"/>
      <p:bldP spid="19" grpId="3" build="allAtOnce"/>
      <p:bldP spid="21" grpId="4" build="allAtOnce"/>
      <p:bldP spid="22" grpId="4" build="allAtOnce"/>
      <p:bldP spid="23" grpId="4" build="allAtOnce"/>
      <p:bldP spid="25" grpId="5" build="allAtOnce"/>
      <p:bldP spid="26" grpId="5" build="allAtOnce"/>
      <p:bldP spid="27" grpId="5" build="allAtOnce"/>
      <p:bldP spid="29" grpId="6" build="allAtOnce"/>
      <p:bldP spid="30" grpId="6" build="allAtOnce"/>
      <p:bldP spid="31" grpId="6" build="allAtOnce"/>
      <p:bldP spid="33" grpId="7" build="allAtOnce"/>
      <p:bldP spid="34" grpId="7" build="allAtOnce"/>
      <p:bldP spid="35" grpId="7" build="allAtOnce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A2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264">
            <a:extLst xmlns:a="http://schemas.openxmlformats.org/drawingml/2006/main">
              <a:ext uri="{FF2B5EF4-FFF2-40B4-BE49-F238E27FC236}">
                <a16:creationId xmlns:a16="http://schemas.microsoft.com/office/drawing/2014/main" id="{117D6564-2B66-40A9-8257-7732A6E7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265">
            <a:extLst xmlns:a="http://schemas.openxmlformats.org/drawingml/2006/main">
              <a:ext uri="{FF2B5EF4-FFF2-40B4-BE49-F238E27FC236}">
                <a16:creationId xmlns:a16="http://schemas.microsoft.com/office/drawing/2014/main" id="{ED757074-6D2F-49FE-A9C4-FE675988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3" name="graphic-266">
            <a:extLst xmlns:a="http://schemas.openxmlformats.org/drawingml/2006/main">
              <a:ext uri="{FF2B5EF4-FFF2-40B4-BE49-F238E27FC236}">
                <a16:creationId xmlns:a16="http://schemas.microsoft.com/office/drawing/2014/main" id="{BE8D0E61-D309-4545-8D8A-821AB8F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267">
            <a:extLst xmlns:a="http://schemas.openxmlformats.org/drawingml/2006/main">
              <a:ext uri="{FF2B5EF4-FFF2-40B4-BE49-F238E27FC236}">
                <a16:creationId xmlns:a16="http://schemas.microsoft.com/office/drawing/2014/main" id="{BB7E9F98-0A1A-432C-B955-4773E168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268">
            <a:extLst xmlns:a="http://schemas.openxmlformats.org/drawingml/2006/main">
              <a:ext uri="{FF2B5EF4-FFF2-40B4-BE49-F238E27FC236}">
                <a16:creationId xmlns:a16="http://schemas.microsoft.com/office/drawing/2014/main" id="{707533BA-91C6-440F-9238-48FBD7B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269">
            <a:extLst xmlns:a="http://schemas.openxmlformats.org/drawingml/2006/main">
              <a:ext uri="{FF2B5EF4-FFF2-40B4-BE49-F238E27FC236}">
                <a16:creationId xmlns:a16="http://schemas.microsoft.com/office/drawing/2014/main" id="{A9F45473-829E-40AD-9F1E-28661C6C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三级复核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贯穿服务交付</a:t>
            </a:r>
          </a:p>
        </p:txBody>
      </p:sp>
      <p:sp>
        <p:nvSpPr>
          <p:cNvPr id="7" name="graphic-270">
            <a:extLst xmlns:a="http://schemas.openxmlformats.org/drawingml/2006/main">
              <a:ext uri="{FF2B5EF4-FFF2-40B4-BE49-F238E27FC236}">
                <a16:creationId xmlns:a16="http://schemas.microsoft.com/office/drawing/2014/main" id="{8200B074-9F4C-4F54-A36B-1E0F9400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1-271">
            <a:extLst xmlns:a="http://schemas.openxmlformats.org/drawingml/2006/main">
              <a:ext uri="{FF2B5EF4-FFF2-40B4-BE49-F238E27FC236}">
                <a16:creationId xmlns:a16="http://schemas.microsoft.com/office/drawing/2014/main" id="{99DF6D80-9A50-4F7F-B110-F99480E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build-1-272">
            <a:extLst xmlns:a="http://schemas.openxmlformats.org/drawingml/2006/main">
              <a:ext uri="{FF2B5EF4-FFF2-40B4-BE49-F238E27FC236}">
                <a16:creationId xmlns:a16="http://schemas.microsoft.com/office/drawing/2014/main" id="{5654E9CA-2FAC-432B-89E6-98E0B33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286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项目组复核</a:t>
            </a:r>
          </a:p>
        </p:txBody>
      </p:sp>
      <p:sp>
        <p:nvSpPr>
          <p:cNvPr id="10" name="build-1-273">
            <a:extLst xmlns:a="http://schemas.openxmlformats.org/drawingml/2006/main">
              <a:ext uri="{FF2B5EF4-FFF2-40B4-BE49-F238E27FC236}">
                <a16:creationId xmlns:a16="http://schemas.microsoft.com/office/drawing/2014/main" id="{320E590E-CE03-47DA-ABFF-4E57D60A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核对基础资料与工作底稿</a:t>
            </a:r>
          </a:p>
        </p:txBody>
      </p:sp>
      <p:sp>
        <p:nvSpPr>
          <p:cNvPr id="11" name="graphic-274">
            <a:extLst xmlns:a="http://schemas.openxmlformats.org/drawingml/2006/main">
              <a:ext uri="{FF2B5EF4-FFF2-40B4-BE49-F238E27FC236}">
                <a16:creationId xmlns:a16="http://schemas.microsoft.com/office/drawing/2014/main" id="{53EC4F27-4593-490B-AE96-0147848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004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ild-2-275">
            <a:extLst xmlns:a="http://schemas.openxmlformats.org/drawingml/2006/main">
              <a:ext uri="{FF2B5EF4-FFF2-40B4-BE49-F238E27FC236}">
                <a16:creationId xmlns:a16="http://schemas.microsoft.com/office/drawing/2014/main" id="{1F2E7443-951F-409A-9E03-04856E8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099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build-2-276">
            <a:extLst xmlns:a="http://schemas.openxmlformats.org/drawingml/2006/main">
              <a:ext uri="{FF2B5EF4-FFF2-40B4-BE49-F238E27FC236}">
                <a16:creationId xmlns:a16="http://schemas.microsoft.com/office/drawing/2014/main" id="{28C09599-05CD-4F26-A28F-F886A9C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10050"/>
            <a:ext cx="3286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专业负责人复核</a:t>
            </a:r>
          </a:p>
        </p:txBody>
      </p:sp>
      <p:sp>
        <p:nvSpPr>
          <p:cNvPr id="14" name="build-2-277">
            <a:extLst xmlns:a="http://schemas.openxmlformats.org/drawingml/2006/main">
              <a:ext uri="{FF2B5EF4-FFF2-40B4-BE49-F238E27FC236}">
                <a16:creationId xmlns:a16="http://schemas.microsoft.com/office/drawing/2014/main" id="{E2730AA2-117C-4DD1-AA94-10AC96F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905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检查专业口径与处理结论</a:t>
            </a:r>
          </a:p>
        </p:txBody>
      </p:sp>
      <p:sp>
        <p:nvSpPr>
          <p:cNvPr id="15" name="graphic-278">
            <a:extLst xmlns:a="http://schemas.openxmlformats.org/drawingml/2006/main">
              <a:ext uri="{FF2B5EF4-FFF2-40B4-BE49-F238E27FC236}">
                <a16:creationId xmlns:a16="http://schemas.microsoft.com/office/drawing/2014/main" id="{493B1227-483A-4A4F-9D52-1DB82677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ild-3-279">
            <a:extLst xmlns:a="http://schemas.openxmlformats.org/drawingml/2006/main">
              <a:ext uri="{FF2B5EF4-FFF2-40B4-BE49-F238E27FC236}">
                <a16:creationId xmlns:a16="http://schemas.microsoft.com/office/drawing/2014/main" id="{D41BB3D7-5999-4A29-B00F-2B2FB14C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build-3-280">
            <a:extLst xmlns:a="http://schemas.openxmlformats.org/drawingml/2006/main">
              <a:ext uri="{FF2B5EF4-FFF2-40B4-BE49-F238E27FC236}">
                <a16:creationId xmlns:a16="http://schemas.microsoft.com/office/drawing/2014/main" id="{1306CBC7-7AB7-4C68-B53D-A1C70BA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286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质量负责人复核</a:t>
            </a:r>
          </a:p>
        </p:txBody>
      </p:sp>
      <p:sp>
        <p:nvSpPr>
          <p:cNvPr id="18" name="build-3-281">
            <a:extLst xmlns:a="http://schemas.openxmlformats.org/drawingml/2006/main">
              <a:ext uri="{FF2B5EF4-FFF2-40B4-BE49-F238E27FC236}">
                <a16:creationId xmlns:a16="http://schemas.microsoft.com/office/drawing/2014/main" id="{CBD87033-64E0-45CF-9FD1-EE1D718D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确认报告一致性与意见闭环</a:t>
            </a:r>
          </a:p>
        </p:txBody>
      </p:sp>
      <p:sp>
        <p:nvSpPr>
          <p:cNvPr id="19" name="copy-282">
            <a:extLst xmlns:a="http://schemas.openxmlformats.org/drawingml/2006/main">
              <a:ext uri="{FF2B5EF4-FFF2-40B4-BE49-F238E27FC236}">
                <a16:creationId xmlns:a16="http://schemas.microsoft.com/office/drawing/2014/main" id="{C523AAD7-97E3-4829-8121-320B5C63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需求确认与签约 / 资料归集 / 凭证复核 / 政策适用与测算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内部三级复核 / 客户确认与交付 / 归档回访</a:t>
            </a:r>
          </a:p>
        </p:txBody>
      </p:sp>
    </p:spTree>
    <p:extLst>
      <p:ext uri="{BB962C8B-B14F-4D97-AF65-F5344CB8AC3E}">
        <p14:creationId xmlns:p14="http://schemas.microsoft.com/office/powerpoint/2010/main" val="1597379930"/>
      </p:ext>
    </p:extLst>
  </p:cSld>
  <p:transition spd="slow" advClick="1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9" grpId="1" build="allAtOnce"/>
      <p:bldP spid="10" grpId="1" build="allAtOnce"/>
      <p:bldP spid="12" grpId="2" build="allAtOnce"/>
      <p:bldP spid="13" grpId="2" build="allAtOnce"/>
      <p:bldP spid="14" grpId="2" build="allAtOnce"/>
      <p:bldP spid="16" grpId="3" build="allAtOnce"/>
      <p:bldP spid="17" grpId="3" build="allAtOnce"/>
      <p:bldP spid="18" grpId="3" build="allAtOnce"/>
    </p:bld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283">
            <a:extLst xmlns:a="http://schemas.openxmlformats.org/drawingml/2006/main">
              <a:ext uri="{FF2B5EF4-FFF2-40B4-BE49-F238E27FC236}">
                <a16:creationId xmlns:a16="http://schemas.microsoft.com/office/drawing/2014/main" id="{5CD6C15A-1F25-427D-9BCA-53F3985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284">
            <a:extLst xmlns:a="http://schemas.openxmlformats.org/drawingml/2006/main">
              <a:ext uri="{FF2B5EF4-FFF2-40B4-BE49-F238E27FC236}">
                <a16:creationId xmlns:a16="http://schemas.microsoft.com/office/drawing/2014/main" id="{A327E5F7-4F9E-47EC-921B-ABFA0AE5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3" name="graphic-285">
            <a:extLst xmlns:a="http://schemas.openxmlformats.org/drawingml/2006/main">
              <a:ext uri="{FF2B5EF4-FFF2-40B4-BE49-F238E27FC236}">
                <a16:creationId xmlns:a16="http://schemas.microsoft.com/office/drawing/2014/main" id="{89111A32-D63A-48D6-A8EC-F1925179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286">
            <a:extLst xmlns:a="http://schemas.openxmlformats.org/drawingml/2006/main">
              <a:ext uri="{FF2B5EF4-FFF2-40B4-BE49-F238E27FC236}">
                <a16:creationId xmlns:a16="http://schemas.microsoft.com/office/drawing/2014/main" id="{2C289CD2-9828-4995-8D98-E2B9E65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287">
            <a:extLst xmlns:a="http://schemas.openxmlformats.org/drawingml/2006/main">
              <a:ext uri="{FF2B5EF4-FFF2-40B4-BE49-F238E27FC236}">
                <a16:creationId xmlns:a16="http://schemas.microsoft.com/office/drawing/2014/main" id="{2C987562-2DF5-448B-BBC8-BEF92B74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288">
            <a:extLst xmlns:a="http://schemas.openxmlformats.org/drawingml/2006/main">
              <a:ext uri="{FF2B5EF4-FFF2-40B4-BE49-F238E27FC236}">
                <a16:creationId xmlns:a16="http://schemas.microsoft.com/office/drawing/2014/main" id="{FE4F7FEA-0765-4DBA-A8CB-37275DA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客户案例与工作路径</a:t>
            </a:r>
          </a:p>
        </p:txBody>
      </p:sp>
      <p:sp>
        <p:nvSpPr>
          <p:cNvPr id="7" name="graphic-289">
            <a:extLst xmlns:a="http://schemas.openxmlformats.org/drawingml/2006/main">
              <a:ext uri="{FF2B5EF4-FFF2-40B4-BE49-F238E27FC236}">
                <a16:creationId xmlns:a16="http://schemas.microsoft.com/office/drawing/2014/main" id="{FCD178FD-8873-42E5-B066-DAFD82D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1-290">
            <a:extLst xmlns:a="http://schemas.openxmlformats.org/drawingml/2006/main">
              <a:ext uri="{FF2B5EF4-FFF2-40B4-BE49-F238E27FC236}">
                <a16:creationId xmlns:a16="http://schemas.microsoft.com/office/drawing/2014/main" id="{7DCFF85C-3CF6-4B7E-B382-9146163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build-1-291">
            <a:extLst xmlns:a="http://schemas.openxmlformats.org/drawingml/2006/main">
              <a:ext uri="{FF2B5EF4-FFF2-40B4-BE49-F238E27FC236}">
                <a16:creationId xmlns:a16="http://schemas.microsoft.com/office/drawing/2014/main" id="{99BF5B13-029B-451D-B98E-5DF276A5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907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一杯轻茶 / 门店合规</a:t>
            </a:r>
          </a:p>
        </p:txBody>
      </p:sp>
      <p:sp>
        <p:nvSpPr>
          <p:cNvPr id="10" name="build-1-292">
            <a:extLst xmlns:a="http://schemas.openxmlformats.org/drawingml/2006/main">
              <a:ext uri="{FF2B5EF4-FFF2-40B4-BE49-F238E27FC236}">
                <a16:creationId xmlns:a16="http://schemas.microsoft.com/office/drawing/2014/main" id="{36567020-C0DF-4186-9C5C-DB43E0A6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907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代账与申报服务，费用分类及票据合规辅导。</a:t>
            </a:r>
          </a:p>
        </p:txBody>
      </p:sp>
      <p:sp>
        <p:nvSpPr>
          <p:cNvPr id="11" name="graphic-293">
            <a:extLst xmlns:a="http://schemas.openxmlformats.org/drawingml/2006/main">
              <a:ext uri="{FF2B5EF4-FFF2-40B4-BE49-F238E27FC236}">
                <a16:creationId xmlns:a16="http://schemas.microsoft.com/office/drawing/2014/main" id="{B4B3CAA8-9E12-4640-A0A4-39203785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ild-2-294">
            <a:extLst xmlns:a="http://schemas.openxmlformats.org/drawingml/2006/main">
              <a:ext uri="{FF2B5EF4-FFF2-40B4-BE49-F238E27FC236}">
                <a16:creationId xmlns:a16="http://schemas.microsoft.com/office/drawing/2014/main" id="{CD77F6CD-EAB8-4751-A405-CFF8511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build-2-295">
            <a:extLst xmlns:a="http://schemas.openxmlformats.org/drawingml/2006/main">
              <a:ext uri="{FF2B5EF4-FFF2-40B4-BE49-F238E27FC236}">
                <a16:creationId xmlns:a16="http://schemas.microsoft.com/office/drawing/2014/main" id="{189FCE27-87F8-4BDE-826E-52A604B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242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云启信息 / 研发资料</a:t>
            </a:r>
          </a:p>
        </p:txBody>
      </p:sp>
      <p:sp>
        <p:nvSpPr>
          <p:cNvPr id="14" name="build-2-296">
            <a:extLst xmlns:a="http://schemas.openxmlformats.org/drawingml/2006/main">
              <a:ext uri="{FF2B5EF4-FFF2-40B4-BE49-F238E27FC236}">
                <a16:creationId xmlns:a16="http://schemas.microsoft.com/office/drawing/2014/main" id="{D1CB5932-2326-4E85-A1B0-7C629C5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242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工时归集与辅助账管理辅导、常年顾问支持。</a:t>
            </a:r>
          </a:p>
        </p:txBody>
      </p:sp>
      <p:sp>
        <p:nvSpPr>
          <p:cNvPr id="15" name="graphic-297">
            <a:extLst xmlns:a="http://schemas.openxmlformats.org/drawingml/2006/main">
              <a:ext uri="{FF2B5EF4-FFF2-40B4-BE49-F238E27FC236}">
                <a16:creationId xmlns:a16="http://schemas.microsoft.com/office/drawing/2014/main" id="{9A3F7D09-18F0-479D-9FCA-61B8488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ild-3-298">
            <a:extLst xmlns:a="http://schemas.openxmlformats.org/drawingml/2006/main">
              <a:ext uri="{FF2B5EF4-FFF2-40B4-BE49-F238E27FC236}">
                <a16:creationId xmlns:a16="http://schemas.microsoft.com/office/drawing/2014/main" id="{B5FACEDF-1C5C-4702-ACDA-1D9C63F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build-3-299">
            <a:extLst xmlns:a="http://schemas.openxmlformats.org/drawingml/2006/main">
              <a:ext uri="{FF2B5EF4-FFF2-40B4-BE49-F238E27FC236}">
                <a16:creationId xmlns:a16="http://schemas.microsoft.com/office/drawing/2014/main" id="{508B2F55-9361-437D-9E37-97CEC60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576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明序设计 / 跨期核算</a:t>
            </a:r>
          </a:p>
        </p:txBody>
      </p:sp>
      <p:sp>
        <p:nvSpPr>
          <p:cNvPr id="18" name="build-3-300">
            <a:extLst xmlns:a="http://schemas.openxmlformats.org/drawingml/2006/main">
              <a:ext uri="{FF2B5EF4-FFF2-40B4-BE49-F238E27FC236}">
                <a16:creationId xmlns:a16="http://schemas.microsoft.com/office/drawing/2014/main" id="{58A7B659-02DB-4C16-8BD4-2B7577FD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57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跨期项目核算口径与财务外包支持。</a:t>
            </a:r>
          </a:p>
        </p:txBody>
      </p:sp>
      <p:sp>
        <p:nvSpPr>
          <p:cNvPr id="19" name="graphic-301">
            <a:extLst xmlns:a="http://schemas.openxmlformats.org/drawingml/2006/main">
              <a:ext uri="{FF2B5EF4-FFF2-40B4-BE49-F238E27FC236}">
                <a16:creationId xmlns:a16="http://schemas.microsoft.com/office/drawing/2014/main" id="{AC5831F3-E165-4844-B86F-4E9C228C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ild-4-302">
            <a:extLst xmlns:a="http://schemas.openxmlformats.org/drawingml/2006/main">
              <a:ext uri="{FF2B5EF4-FFF2-40B4-BE49-F238E27FC236}">
                <a16:creationId xmlns:a16="http://schemas.microsoft.com/office/drawing/2014/main" id="{580D5925-E88B-42B8-B390-91F318B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build-4-303">
            <a:extLst xmlns:a="http://schemas.openxmlformats.org/drawingml/2006/main">
              <a:ext uri="{FF2B5EF4-FFF2-40B4-BE49-F238E27FC236}">
                <a16:creationId xmlns:a16="http://schemas.microsoft.com/office/drawing/2014/main" id="{632D7068-92E3-4BC0-93B9-876C89B9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910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恒顺五金 / 资产事项</a:t>
            </a:r>
          </a:p>
        </p:txBody>
      </p:sp>
      <p:sp>
        <p:nvSpPr>
          <p:cNvPr id="22" name="build-4-304">
            <a:extLst xmlns:a="http://schemas.openxmlformats.org/drawingml/2006/main">
              <a:ext uri="{FF2B5EF4-FFF2-40B4-BE49-F238E27FC236}">
                <a16:creationId xmlns:a16="http://schemas.microsoft.com/office/drawing/2014/main" id="{C98CA0BC-5FC0-46B5-A4CF-7E5545A4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5910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资产事项梳理与税务健康检查支持。</a:t>
            </a:r>
          </a:p>
        </p:txBody>
      </p:sp>
      <p:sp>
        <p:nvSpPr>
          <p:cNvPr id="23" name="graphic-305">
            <a:extLst xmlns:a="http://schemas.openxmlformats.org/drawingml/2006/main">
              <a:ext uri="{FF2B5EF4-FFF2-40B4-BE49-F238E27FC236}">
                <a16:creationId xmlns:a16="http://schemas.microsoft.com/office/drawing/2014/main" id="{BF594012-A936-4D36-BA80-2644FF1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ild-5-306">
            <a:extLst xmlns:a="http://schemas.openxmlformats.org/drawingml/2006/main">
              <a:ext uri="{FF2B5EF4-FFF2-40B4-BE49-F238E27FC236}">
                <a16:creationId xmlns:a16="http://schemas.microsoft.com/office/drawing/2014/main" id="{6D57AE3A-E1B6-4BA6-8954-1E140ED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build-5-307">
            <a:extLst xmlns:a="http://schemas.openxmlformats.org/drawingml/2006/main">
              <a:ext uri="{FF2B5EF4-FFF2-40B4-BE49-F238E27FC236}">
                <a16:creationId xmlns:a16="http://schemas.microsoft.com/office/drawing/2014/main" id="{A51E20DA-018A-4CFD-AA25-C1AE039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244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跨境电商 / 收款口径</a:t>
            </a:r>
          </a:p>
        </p:txBody>
      </p:sp>
      <p:sp>
        <p:nvSpPr>
          <p:cNvPr id="26" name="build-5-308">
            <a:extLst xmlns:a="http://schemas.openxmlformats.org/drawingml/2006/main">
              <a:ext uri="{FF2B5EF4-FFF2-40B4-BE49-F238E27FC236}">
                <a16:creationId xmlns:a16="http://schemas.microsoft.com/office/drawing/2014/main" id="{392D88B9-D306-45AB-9409-21B70C4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3244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平台数据与申报口径的基础梳理。</a:t>
            </a:r>
          </a:p>
        </p:txBody>
      </p:sp>
    </p:spTree>
    <p:extLst>
      <p:ext uri="{BB962C8B-B14F-4D97-AF65-F5344CB8AC3E}">
        <p14:creationId xmlns:p14="http://schemas.microsoft.com/office/powerpoint/2010/main" val="191674256"/>
      </p:ext>
    </p:extLst>
  </p:cSld>
  <p:transition spd="slow" advClick="1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 grpId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9" grpId="1" build="allAtOnce"/>
      <p:bldP spid="10" grpId="1" build="allAtOnce"/>
      <p:bldP spid="12" grpId="2" build="allAtOnce"/>
      <p:bldP spid="13" grpId="2" build="allAtOnce"/>
      <p:bldP spid="14" grpId="2" build="allAtOnce"/>
      <p:bldP spid="16" grpId="3" build="allAtOnce"/>
      <p:bldP spid="17" grpId="3" build="allAtOnce"/>
      <p:bldP spid="18" grpId="3" build="allAtOnce"/>
      <p:bldP spid="20" grpId="4" build="allAtOnce"/>
      <p:bldP spid="21" grpId="4" build="allAtOnce"/>
      <p:bldP spid="22" grpId="4" build="allAtOnce"/>
      <p:bldP spid="24" grpId="5" build="allAtOnce"/>
      <p:bldP spid="25" grpId="5" build="allAtOnce"/>
      <p:bldP spid="26" grpId="5" build="allAtOnce"/>
    </p:bld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-309">
            <a:extLst xmlns:a="http://schemas.openxmlformats.org/drawingml/2006/main">
              <a:ext uri="{FF2B5EF4-FFF2-40B4-BE49-F238E27FC236}">
                <a16:creationId xmlns:a16="http://schemas.microsoft.com/office/drawing/2014/main" id="{6343ED27-1D52-40C8-BE74-BC9369B9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F0E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310">
            <a:extLst xmlns:a="http://schemas.openxmlformats.org/drawingml/2006/main">
              <a:ext uri="{FF2B5EF4-FFF2-40B4-BE49-F238E27FC236}">
                <a16:creationId xmlns:a16="http://schemas.microsoft.com/office/drawing/2014/main" id="{78328945-3E20-422A-8DAE-3368C8D8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2F0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2F0E9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3" name="graphic-311">
            <a:extLst xmlns:a="http://schemas.openxmlformats.org/drawingml/2006/main">
              <a:ext uri="{FF2B5EF4-FFF2-40B4-BE49-F238E27FC236}">
                <a16:creationId xmlns:a16="http://schemas.microsoft.com/office/drawing/2014/main" id="{2F20AD7F-F3FC-4674-8D75-7263381A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312">
            <a:extLst xmlns:a="http://schemas.openxmlformats.org/drawingml/2006/main">
              <a:ext uri="{FF2B5EF4-FFF2-40B4-BE49-F238E27FC236}">
                <a16:creationId xmlns:a16="http://schemas.microsoft.com/office/drawing/2014/main" id="{F49CF6E1-029F-403A-BAB6-7ADE7A32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313">
            <a:extLst xmlns:a="http://schemas.openxmlformats.org/drawingml/2006/main">
              <a:ext uri="{FF2B5EF4-FFF2-40B4-BE49-F238E27FC236}">
                <a16:creationId xmlns:a16="http://schemas.microsoft.com/office/drawing/2014/main" id="{76E18BC7-57EB-4218-8259-48A8F4E4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314">
            <a:extLst xmlns:a="http://schemas.openxmlformats.org/drawingml/2006/main">
              <a:ext uri="{FF2B5EF4-FFF2-40B4-BE49-F238E27FC236}">
                <a16:creationId xmlns:a16="http://schemas.microsoft.com/office/drawing/2014/main" id="{165BE302-94B1-4D5F-A29C-9E2DBF2C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专业、可负担的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日常财税支持</a:t>
            </a:r>
          </a:p>
        </p:txBody>
      </p:sp>
      <p:sp>
        <p:nvSpPr>
          <p:cNvPr id="7" name="graphic-315">
            <a:extLst xmlns:a="http://schemas.openxmlformats.org/drawingml/2006/main">
              <a:ext uri="{FF2B5EF4-FFF2-40B4-BE49-F238E27FC236}">
                <a16:creationId xmlns:a16="http://schemas.microsoft.com/office/drawing/2014/main" id="{C599F8BB-F0AF-45A2-BB35-FCC55DC8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1-316">
            <a:extLst xmlns:a="http://schemas.openxmlformats.org/drawingml/2006/main">
              <a:ext uri="{FF2B5EF4-FFF2-40B4-BE49-F238E27FC236}">
                <a16:creationId xmlns:a16="http://schemas.microsoft.com/office/drawing/2014/main" id="{077DD60B-7C9B-4B09-A15E-737D941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95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专属顾问对接</a:t>
            </a:r>
          </a:p>
        </p:txBody>
      </p:sp>
      <p:sp>
        <p:nvSpPr>
          <p:cNvPr id="9" name="build-1-317">
            <a:extLst xmlns:a="http://schemas.openxmlformats.org/drawingml/2006/main">
              <a:ext uri="{FF2B5EF4-FFF2-40B4-BE49-F238E27FC236}">
                <a16:creationId xmlns:a16="http://schemas.microsoft.com/office/drawing/2014/main" id="{3AC15654-E64E-46CB-BFFA-5A4D01B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需求有人理解，事项有人跟进。</a:t>
            </a:r>
          </a:p>
        </p:txBody>
      </p:sp>
      <p:sp>
        <p:nvSpPr>
          <p:cNvPr id="10" name="graphic-318">
            <a:extLst xmlns:a="http://schemas.openxmlformats.org/drawingml/2006/main">
              <a:ext uri="{FF2B5EF4-FFF2-40B4-BE49-F238E27FC236}">
                <a16:creationId xmlns:a16="http://schemas.microsoft.com/office/drawing/2014/main" id="{AFDCDCC2-3C1F-42FA-A376-5F88EA49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ild-2-319">
            <a:extLst xmlns:a="http://schemas.openxmlformats.org/drawingml/2006/main">
              <a:ext uri="{FF2B5EF4-FFF2-40B4-BE49-F238E27FC236}">
                <a16:creationId xmlns:a16="http://schemas.microsoft.com/office/drawing/2014/main" id="{618E3D37-3C94-475C-8A77-BA2DC44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29025"/>
            <a:ext cx="5095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服务进度可视</a:t>
            </a:r>
          </a:p>
        </p:txBody>
      </p:sp>
      <p:sp>
        <p:nvSpPr>
          <p:cNvPr id="12" name="build-2-320">
            <a:extLst xmlns:a="http://schemas.openxmlformats.org/drawingml/2006/main">
              <a:ext uri="{FF2B5EF4-FFF2-40B4-BE49-F238E27FC236}">
                <a16:creationId xmlns:a16="http://schemas.microsoft.com/office/drawing/2014/main" id="{954F5AC7-88B8-4A83-BD4D-2B4212E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交付节点与资料需求清楚可见。</a:t>
            </a:r>
          </a:p>
        </p:txBody>
      </p:sp>
      <p:sp>
        <p:nvSpPr>
          <p:cNvPr id="13" name="graphic-321">
            <a:extLst xmlns:a="http://schemas.openxmlformats.org/drawingml/2006/main">
              <a:ext uri="{FF2B5EF4-FFF2-40B4-BE49-F238E27FC236}">
                <a16:creationId xmlns:a16="http://schemas.microsoft.com/office/drawing/2014/main" id="{7181C0D1-EB44-4E60-98DA-D02D2725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3-322">
            <a:extLst xmlns:a="http://schemas.openxmlformats.org/drawingml/2006/main">
              <a:ext uri="{FF2B5EF4-FFF2-40B4-BE49-F238E27FC236}">
                <a16:creationId xmlns:a16="http://schemas.microsoft.com/office/drawing/2014/main" id="{99222C49-E1BC-4367-A96B-2172429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5095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政策口径可溯源</a:t>
            </a:r>
          </a:p>
        </p:txBody>
      </p:sp>
      <p:sp>
        <p:nvSpPr>
          <p:cNvPr id="15" name="build-3-323">
            <a:extLst xmlns:a="http://schemas.openxmlformats.org/drawingml/2006/main">
              <a:ext uri="{FF2B5EF4-FFF2-40B4-BE49-F238E27FC236}">
                <a16:creationId xmlns:a16="http://schemas.microsoft.com/office/drawing/2014/main" id="{B51BB7C8-7100-4C59-B8AF-12D2F69D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以法律法规与适用政策为依据。</a:t>
            </a:r>
          </a:p>
        </p:txBody>
      </p:sp>
      <p:sp>
        <p:nvSpPr>
          <p:cNvPr id="16" name="graphic-324">
            <a:extLst xmlns:a="http://schemas.openxmlformats.org/drawingml/2006/main">
              <a:ext uri="{FF2B5EF4-FFF2-40B4-BE49-F238E27FC236}">
                <a16:creationId xmlns:a16="http://schemas.microsoft.com/office/drawing/2014/main" id="{5BAE4C02-01F1-4FB4-B4F2-DEE26B4B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720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ild-4-325">
            <a:extLst xmlns:a="http://schemas.openxmlformats.org/drawingml/2006/main">
              <a:ext uri="{FF2B5EF4-FFF2-40B4-BE49-F238E27FC236}">
                <a16:creationId xmlns:a16="http://schemas.microsoft.com/office/drawing/2014/main" id="{B249CD68-6F77-4010-8DD6-AABBB36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62525"/>
            <a:ext cx="5095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客户数据严格保密</a:t>
            </a:r>
          </a:p>
        </p:txBody>
      </p:sp>
      <p:sp>
        <p:nvSpPr>
          <p:cNvPr id="18" name="build-4-326">
            <a:extLst xmlns:a="http://schemas.openxmlformats.org/drawingml/2006/main">
              <a:ext uri="{FF2B5EF4-FFF2-40B4-BE49-F238E27FC236}">
                <a16:creationId xmlns:a16="http://schemas.microsoft.com/office/drawing/2014/main" id="{2F9D1B0E-DA8B-432E-8846-47BD8089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626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0E9"/>
                </a:solidFill>
                <a:latin typeface="Microsoft YaHei"/>
                <a:ea typeface="Microsoft YaHei"/>
                <a:cs typeface="Microsoft YaHei"/>
              </a:rPr>
              <a:t>保护业务资料与客户信息。</a:t>
            </a:r>
          </a:p>
        </p:txBody>
      </p:sp>
    </p:spTree>
    <p:extLst>
      <p:ext uri="{BB962C8B-B14F-4D97-AF65-F5344CB8AC3E}">
        <p14:creationId xmlns:p14="http://schemas.microsoft.com/office/powerpoint/2010/main" val="258112438"/>
      </p:ext>
    </p:extLst>
  </p:cSld>
  <p:transition spd="slow" advClick="1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uild="allAtOnce"/>
      <p:bldP spid="9" grpId="1" build="allAtOnce"/>
      <p:bldP spid="11" grpId="2" build="allAtOnce"/>
      <p:bldP spid="12" grpId="2" build="allAtOnce"/>
      <p:bldP spid="14" grpId="3" build="allAtOnce"/>
      <p:bldP spid="15" grpId="3" build="allAtOnce"/>
      <p:bldP spid="17" grpId="4" build="allAtOnce"/>
      <p:bldP spid="18" grpId="4" build="allAtOnce"/>
    </p:bld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327">
            <a:extLst xmlns:a="http://schemas.openxmlformats.org/drawingml/2006/main">
              <a:ext uri="{FF2B5EF4-FFF2-40B4-BE49-F238E27FC236}">
                <a16:creationId xmlns:a16="http://schemas.microsoft.com/office/drawing/2014/main" id="{15CEEFF5-6003-45EA-9F6F-EE17442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MINGDE TAX &amp; FINANCE</a:t>
            </a:r>
          </a:p>
        </p:txBody>
      </p:sp>
      <p:sp>
        <p:nvSpPr>
          <p:cNvPr id="2" name="copy-328">
            <a:extLst xmlns:a="http://schemas.openxmlformats.org/drawingml/2006/main">
              <a:ext uri="{FF2B5EF4-FFF2-40B4-BE49-F238E27FC236}">
                <a16:creationId xmlns:a16="http://schemas.microsoft.com/office/drawing/2014/main" id="{FF9ADA2B-EC3F-4D63-ABA0-04CF663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91919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3" name="graphic-329">
            <a:extLst xmlns:a="http://schemas.openxmlformats.org/drawingml/2006/main">
              <a:ext uri="{FF2B5EF4-FFF2-40B4-BE49-F238E27FC236}">
                <a16:creationId xmlns:a16="http://schemas.microsoft.com/office/drawing/2014/main" id="{2E99ABC1-F729-4A76-89D6-3FBDA84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losure-330">
            <a:extLst xmlns:a="http://schemas.openxmlformats.org/drawingml/2006/main">
              <a:ext uri="{FF2B5EF4-FFF2-40B4-BE49-F238E27FC236}">
                <a16:creationId xmlns:a16="http://schemas.microsoft.com/office/drawing/2014/main" id="{D830410B-2BC8-4419-8C49-58EAA508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教学模拟 / 公司、人员与数据均为虚构</a:t>
            </a:r>
          </a:p>
        </p:txBody>
      </p:sp>
      <p:sp>
        <p:nvSpPr>
          <p:cNvPr id="5" name="copy-331">
            <a:extLst xmlns:a="http://schemas.openxmlformats.org/drawingml/2006/main">
              <a:ext uri="{FF2B5EF4-FFF2-40B4-BE49-F238E27FC236}">
                <a16:creationId xmlns:a16="http://schemas.microsoft.com/office/drawing/2014/main" id="{F05C945D-33BE-46EA-9433-86A41A89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 / 2026</a:t>
            </a:r>
          </a:p>
        </p:txBody>
      </p:sp>
      <p:sp>
        <p:nvSpPr>
          <p:cNvPr id="6" name="title-332">
            <a:extLst xmlns:a="http://schemas.openxmlformats.org/drawingml/2006/main">
              <a:ext uri="{FF2B5EF4-FFF2-40B4-BE49-F238E27FC236}">
                <a16:creationId xmlns:a16="http://schemas.microsoft.com/office/drawing/2014/main" id="{3521E515-4100-4DCB-B482-04230C8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001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从一次对话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厘清下一步</a:t>
            </a:r>
          </a:p>
        </p:txBody>
      </p:sp>
      <p:sp>
        <p:nvSpPr>
          <p:cNvPr id="7" name="build-1-333">
            <a:extLst xmlns:a="http://schemas.openxmlformats.org/drawingml/2006/main">
              <a:ext uri="{FF2B5EF4-FFF2-40B4-BE49-F238E27FC236}">
                <a16:creationId xmlns:a16="http://schemas.microsoft.com/office/drawing/2014/main" id="{9E0A5F28-5E8C-405F-AD3A-DC217383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电话</a:t>
            </a:r>
          </a:p>
        </p:txBody>
      </p:sp>
      <p:sp>
        <p:nvSpPr>
          <p:cNvPr id="8" name="build-1-334">
            <a:extLst xmlns:a="http://schemas.openxmlformats.org/drawingml/2006/main">
              <a:ext uri="{FF2B5EF4-FFF2-40B4-BE49-F238E27FC236}">
                <a16:creationId xmlns:a16="http://schemas.microsoft.com/office/drawing/2014/main" id="{4F9389E6-7584-4CAF-9535-123D530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05175"/>
            <a:ext cx="957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021-6588-XXXX（教学占位）</a:t>
            </a:r>
          </a:p>
        </p:txBody>
      </p:sp>
      <p:sp>
        <p:nvSpPr>
          <p:cNvPr id="9" name="build-2-335">
            <a:extLst xmlns:a="http://schemas.openxmlformats.org/drawingml/2006/main">
              <a:ext uri="{FF2B5EF4-FFF2-40B4-BE49-F238E27FC236}">
                <a16:creationId xmlns:a16="http://schemas.microsoft.com/office/drawing/2014/main" id="{E1F04851-E402-4FC0-9AC4-06C48A01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邮箱</a:t>
            </a:r>
          </a:p>
        </p:txBody>
      </p:sp>
      <p:sp>
        <p:nvSpPr>
          <p:cNvPr id="10" name="build-2-336">
            <a:extLst xmlns:a="http://schemas.openxmlformats.org/drawingml/2006/main">
              <a:ext uri="{FF2B5EF4-FFF2-40B4-BE49-F238E27FC236}">
                <a16:creationId xmlns:a16="http://schemas.microsoft.com/office/drawing/2014/main" id="{AB26AB9D-2D68-42C4-96AC-9EF20D0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957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service@mingdetax-demo.cn（教学占位域名）</a:t>
            </a:r>
          </a:p>
        </p:txBody>
      </p:sp>
      <p:sp>
        <p:nvSpPr>
          <p:cNvPr id="11" name="build-3-337">
            <a:extLst xmlns:a="http://schemas.openxmlformats.org/drawingml/2006/main">
              <a:ext uri="{FF2B5EF4-FFF2-40B4-BE49-F238E27FC236}">
                <a16:creationId xmlns:a16="http://schemas.microsoft.com/office/drawing/2014/main" id="{C664807A-FBE7-4A76-8D62-1BF8E88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地址</a:t>
            </a:r>
          </a:p>
        </p:txBody>
      </p:sp>
      <p:sp>
        <p:nvSpPr>
          <p:cNvPr id="12" name="build-3-338">
            <a:extLst xmlns:a="http://schemas.openxmlformats.org/drawingml/2006/main">
              <a:ext uri="{FF2B5EF4-FFF2-40B4-BE49-F238E27FC236}">
                <a16:creationId xmlns:a16="http://schemas.microsoft.com/office/drawing/2014/main" id="{1AA8E85E-CEAF-4158-AC7F-F7DE346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29125"/>
            <a:ext cx="957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上海市徐汇区宜山路700号明大科创园B座12层（模拟）</a:t>
            </a:r>
          </a:p>
        </p:txBody>
      </p:sp>
      <p:sp>
        <p:nvSpPr>
          <p:cNvPr id="13" name="build-4-339">
            <a:extLst xmlns:a="http://schemas.openxmlformats.org/drawingml/2006/main">
              <a:ext uri="{FF2B5EF4-FFF2-40B4-BE49-F238E27FC236}">
                <a16:creationId xmlns:a16="http://schemas.microsoft.com/office/drawing/2014/main" id="{6727B7E4-86BF-45F8-8EC9-5C97B587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A291C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14" name="build-4-340">
            <a:extLst xmlns:a="http://schemas.openxmlformats.org/drawingml/2006/main">
              <a:ext uri="{FF2B5EF4-FFF2-40B4-BE49-F238E27FC236}">
                <a16:creationId xmlns:a16="http://schemas.microsoft.com/office/drawing/2014/main" id="{36B2EA31-D7AF-4E90-83E8-0237B865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91100"/>
            <a:ext cx="957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周一至周五 9:00–18:00</a:t>
            </a:r>
          </a:p>
        </p:txBody>
      </p:sp>
      <p:sp>
        <p:nvSpPr>
          <p:cNvPr id="15" name="copy-341">
            <a:extLst xmlns:a="http://schemas.openxmlformats.org/drawingml/2006/main">
              <a:ext uri="{FF2B5EF4-FFF2-40B4-BE49-F238E27FC236}">
                <a16:creationId xmlns:a16="http://schemas.microsoft.com/office/drawing/2014/main" id="{52E12422-5528-4012-9810-2CA8E292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deepsleep.fun/testwork/</a:t>
            </a:r>
          </a:p>
        </p:txBody>
      </p:sp>
    </p:spTree>
    <p:extLst>
      <p:ext uri="{BB962C8B-B14F-4D97-AF65-F5344CB8AC3E}">
        <p14:creationId xmlns:p14="http://schemas.microsoft.com/office/powerpoint/2010/main" val="1517251004"/>
      </p:ext>
    </p:extLst>
  </p:cSld>
  <p:transition spd="slow" advClick="1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 grp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" dur="5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 grpId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 grpId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build="allAtOnce"/>
      <p:bldP spid="8" grpId="1" build="allAtOnce"/>
      <p:bldP spid="9" grpId="2" build="allAtOnce"/>
      <p:bldP spid="10" grpId="2" build="allAtOnce"/>
      <p:bldP spid="11" grpId="3" build="allAtOnce"/>
      <p:bldP spid="12" grpId="3" build="allAtOnce"/>
      <p:bldP spid="13" grpId="4" build="allAtOnce"/>
      <p:bldP spid="14" grpId="4" build="allAtOnce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2026-10-10T08:58:33.7340000Z</dcterms:created>
  <dcterms:modified xsi:type="dcterms:W3CDTF">2026-10-10T08:58:33.7350000Z</dcterms:modified>
</coreProperties>
</file>